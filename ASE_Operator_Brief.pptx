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hOhDY/k6AQcHF4hFnll9+Znn8u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E88E17-01CA-4FDC-A704-CEA885DBC39A}">
  <a:tblStyle styleId="{CEE88E17-01CA-4FDC-A704-CEA885DBC39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1: TITLE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"Thank you for your time today. I'm here to share findings from a 14-day production review of the Internal Search Assistant — the tool your 750 stores use through the OneStore widget.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analyzed five telemetry files covering a 10% random sample — 1,200 requests from June 1st through the 14th. What I'll walk you through is what the data tells us about the system's current health, two critical problems that need immediate attention, and a concrete, phased action plan to stabilize before the planned three-team expansion.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want to set expectations up front: I'm going to be direct about what the data shows. Some of it is concerning. But the good news is that the core architecture is sound — every issue I found is fixable with targeted engineering, not a rewrite. Let's get into it."</a:t>
            </a:r>
            <a:endParaRPr/>
          </a:p>
          <a:p>
            <a:pPr indent="0" lvl="0" marL="0" rtl="0" algn="l">
              <a:spcBef>
                <a:spcPts val="0"/>
              </a:spcBef>
              <a:spcAft>
                <a:spcPts val="0"/>
              </a:spcAft>
              <a:buNone/>
            </a:pPr>
            <a:r>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2: BOTTOM 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we get into details, here's what you need to know. The system has two independent problems, and I want to stress the word independent — these have different root causes and need different fixes.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something is systematically adding about 86 tokens per day to every single prompt. At this rate, your API costs double every two weeks. The growth is almost perfectly linear — R-squared of 0.9997 — which tells us this is a systematic process, not random variation. One hundred percent of cost growth traces to input token inflation.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the inventory service experienced a sudden degradation overnight between June 8th and 9th. Mean latency jumped from 197 to 520 milliseconds — a 2.6x increase. Fourteen new errors appeared in Week 2 where Week 1 had zero. Someone raised the timeout from 900 to 1,300 milliseconds as a reactive fix, but 9 requests still timed out and a new failure mode — HTTP 500 errors — started appearing June 11th.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do we know these are independent? Prompt token growth is a smooth, continuous linear trend across the June 8/9 boundary — same slope before and after. Inventory latency shows a sharp overnight step change. A single deployment can't cause both a gradual trend and a sudden step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Neither problem will fix itself. And critically, both must be resolved before we onboard three new teams — otherwise we're scaling broken infrastructure at 4x volume."</a:t>
            </a:r>
            <a:endParaRPr/>
          </a:p>
          <a:p>
            <a:pPr indent="0" lvl="0" marL="0" rtl="0" algn="l">
              <a:spcBef>
                <a:spcPts val="0"/>
              </a:spcBef>
              <a:spcAft>
                <a:spcPts val="0"/>
              </a:spcAft>
              <a:buNone/>
            </a:pPr>
            <a:r>
              <a:t/>
            </a:r>
            <a:endParaRPr/>
          </a:p>
        </p:txBody>
      </p:sp>
      <p:sp>
        <p:nvSpPr>
          <p:cNvPr id="94" name="Google Shape;94;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3: CURRENT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walk you through the current state. The assistant handles about 860 requests per day from roughly 750 stores through the OneStore widget. Traffic splits into three routes: about half are policy-only questions that just use retrieval and GPT-4o, and the other half also hit the inventory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pipeline is strictly sequential — and I confirmed this across every single one of the 611 multi-span traces. Retrieval finishes first, then inventory starts, then OpenAI processes. There is zero parallelization happening. This matters because retrieval and inventory have no dependency on each other — they could run simultaneously.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adoption number that concerns me most is at the top right. 1,200 unique users made exactly 1,200 requests over 14 days. That's one query per user, period. Employees are trying the tool once and not coming back. Volume is completely flat with no growth. The maximum from any single store is three requests total. This is a try-once-and-abandon pattern.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Caching exists but is barely functional. Look at these hit rates — 5.8% for policy, 5.6% for inventory, zero for OpenAI responses. Over 91% of requests miss both caches entirely. There's no dedicated caching infrastructure like Redis or ElastiCache — this appears to be in-memory Lambda caching that gets wiped on every cold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the widget itself has significant gaps: no streaming so employees wait over a second staring at nothing, no feedback mechanism so we can't measure quality, no citations so employees can't verify answers, and generic error messages — raw 500 and 504 errors shown directly to users. These UX gaps likely contribute to the one-and-done adoption pattern."</a:t>
            </a:r>
            <a:endParaRPr/>
          </a:p>
          <a:p>
            <a:pPr indent="0" lvl="0" marL="0" rtl="0" algn="l">
              <a:spcBef>
                <a:spcPts val="0"/>
              </a:spcBef>
              <a:spcAft>
                <a:spcPts val="0"/>
              </a:spcAft>
              <a:buNone/>
            </a:pPr>
            <a:r>
              <a:t/>
            </a:r>
            <a:endParaRPr/>
          </a:p>
        </p:txBody>
      </p:sp>
      <p:sp>
        <p:nvSpPr>
          <p:cNvPr id="107" name="Google Shape;1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4: CURRENT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what the system looks like today, and I've annotated every problem I found directly on the diagram.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Starting from the left: the employee hits the OneStore widget, which makes a synchronous REST call through the API Gateway to a Lambda function. The widget has four significant gaps — no streaming, no feedback, no citations, and generic error messages. The API Gateway is synchronous only with no Server-Sent Events or WebSocket support, which means it buffers the entire response before sending anything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Inside the Lambda — and this is where most of the issues live — everything runs in series. Step 1 is retrieval from the vector store at about 70 milliseconds. Then it waits for retrieval to complete before starting Step 2, the inventory lookup, which takes 200 to 550 milliseconds. Then it waits for inventory before calling OpenAI, which takes about 750 milliseconds.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confirmed this serial execution across all 611 traces that include both retrieval and inventory spans — 611 out of 611. Every single one shows retrieval completing before inventory starts. These two calls have zero dependency on each other. A simple Promise.all would overlap them and save 70 to 140 milliseconds on 51% of traffic.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Look at the sample trace in the bottom left. You can see the gaps — retrieval finishes, then there's a pause before inventory starts, then another pause before OpenAI starts. 70 milliseconds wasted just waiting.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red annotations throughout show what's missing: no circuit breakers, no graceful degradation, no provisioned concurrency, naive retry without error classification, no prompt caching, no model routing. And on the right, CloudWatch is logging but there's no dashboard and no alerting. The Week 2 degradation should have been caught within hours — the fact that someone manually raised the inventory timeout tells me there's no automated alerting."</a:t>
            </a:r>
            <a:endParaRPr/>
          </a:p>
          <a:p>
            <a:pPr indent="0" lvl="0" marL="0" rtl="0" algn="l">
              <a:spcBef>
                <a:spcPts val="0"/>
              </a:spcBef>
              <a:spcAft>
                <a:spcPts val="0"/>
              </a:spcAft>
              <a:buNone/>
            </a:pPr>
            <a:r>
              <a:t/>
            </a:r>
            <a:endParaRPr/>
          </a:p>
        </p:txBody>
      </p:sp>
      <p:sp>
        <p:nvSpPr>
          <p:cNvPr id="143" name="Google Shape;14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5: TWO PROBLEMS DEEP DIVE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drill into each problem. Starting on the left — prompt token growth.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Average prompt tokens per request grew from 871 to 1,981 in just 14 days. That's a 127% increase with an R-squared of 0.9997, meaning this is a near-perfect linear trend. This isn't random noise — something is systematically adding about 86 tokens per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do we know it's the system prompt and not user behavior or retrieval changes? Five independent signals all point to the same conclusion.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the growth rate is identical across all three routes — 85, 86, and 88 tokens per day respectively. Since policy_only doesn't even call the inventory service, the growth must be in shared prompt infrastructure — it can't be inventory-related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every single user appears exactly once in the dataset. There's no conversation history accumulating.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retrieval payload is completely flat — about 1,155 bytes per day with an R-squared of only 0.02. The vector store isn't returning more content over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Fourth, there's zero correlation between retrieval payload size and prompt tokens.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fifth, route mix proportions don't trend — we can't explain the growth through a shift toward higher-token routes.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hundred percent of cost growth traces to input tokens. Under the cost formula verified in the data, $1,121 of the total $1,122 cost increase comes from input tokens.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most likely cause is an automated process — a cron job, daily deployment, or content sync — that appends few-shot examples, knowledge base metadata, or behavioral instructions to the system prompt.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on the right — the inventory service. Look at this table. Between June 8th and 9th, mean latency jumped from 197 to 520 milliseconds, p95 nearly tripled to 897, and 14 new errors appeared where Week 1 had zero.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was absolutely not caused by increased load. Inventory-route request volume is flat — 43 requests per day in Week 1 versus 45 in Week 2. Something changed in the service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Someone raised the timeout from 900 to 1,300 milliseconds on June 9th at 00:56 UTC — that's a reactive band-aid, not a fix. Despite the higher ceiling, 9 requests still timed out. And starting June 11th, HTTP 500 errors appeared — a new failure mode indicating the service is now actively breaking, not just slow.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proof that this is isolated to inventory: policy-only traffic experienced zero latency change between Week 1 and Week 2. Retrieval stayed at 70ms. OpenAI stayed at 750ms. Only inventory moved.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SLA impact is significant: before June 9th, 55.7% of requests completed under one second. After June 9th, only 35.4% did. A 20-percentage-point drop entirely caused by one service."</a:t>
            </a:r>
            <a:endParaRPr/>
          </a:p>
          <a:p>
            <a:pPr indent="0" lvl="0" marL="0" rtl="0" algn="l">
              <a:spcBef>
                <a:spcPts val="0"/>
              </a:spcBef>
              <a:spcAft>
                <a:spcPts val="0"/>
              </a:spcAft>
              <a:buNone/>
            </a:pPr>
            <a:r>
              <a:t/>
            </a:r>
            <a:endParaRPr/>
          </a:p>
        </p:txBody>
      </p:sp>
      <p:sp>
        <p:nvSpPr>
          <p:cNvPr id="172" name="Google Shape;17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6: RISKS &amp; ERROR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the broader risk picture. On the left, the error analysis. 33 total errors over 14 days — that's 2.8% overall, which sounds manageable. But here's the critical detail: every single error occurred during peak hours. Off-peak error rate is exactly zero. The peak-hour error rate is 8.2% — that means 1 in 12 employee requests fails during the busiest periods, when the tool matters most.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There's a bimodal concurrency pattern — a gap from 121 to 180 concurrent requests with zero observations in between. The system has two discrete operating modes: off-peak where nothing fails, and peak where 8.2% of requests fail. There's no gradual transition.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Week-over-week, errors went from 10 to 23 — a 130% increase. But here's the key: OpenAI-layer errors barely changed, from 10 to 9. The entire increase is from the inventory service — 0 errors in Week 1 to 14 in Week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red box below highlights something I think deserves special attention. On all 14 inventory failures, GPT-4o still generated a successful response — the model did its job. But that response was thrown away because the downstream tool call failed. That's 14 paid API completions delivering zero value to employees. This is the single strongest argument for graceful degradation. When inventory fails, serve the policy answer with a caveat like 'Inventory data is temporarily unavailable' instead of returning a 500 error.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response quality: 84.9% are clean completions, but 5.2% are truncated — the model ran out of max_tokens mid-answer. This is a one-line fix: raise max_tokens to 1,024. You only pay for tokens generated, not the ceiling. Zero cost impact.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the six biggest risks, on the right, in priority order.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1: runaway cost. If prompt growth continues, cost per request doubles every two weeks. At 4x expansion volume, projected monthly cost becomes unsustainable within one quarter.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2: scaling on a broken foundation. 8.2% peak error rate, inventory degrading further, HTTP 500s started June 11th. Adding three teams means more users experiencing worse reliability.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3: employee trust erosion. 6.8% of requests return incomplete or failed answers. The 1.0 queries per user number suggests trust is already gone. In retail, word-of-mouth is powerful — recovery is much harder than prevention.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4: no graceful degradation. Any downstream failure kills the entire request. No partial-answer fallback exists.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5: poor cache utilization. 91.4% miss rate means common policy questions across hundreds of stores get fully reprocessed from scratch every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Number 6: no quality visibility. No feedback mechanism, no prompt logging, no evaluation pipeline, no dashboard. The team literally cannot tell whether answers are correct, whether employees find them useful, or whether changes help or hurt. We're flying blind on the most important metric."</a:t>
            </a:r>
            <a:endParaRPr/>
          </a:p>
          <a:p>
            <a:pPr indent="0" lvl="0" marL="0" rtl="0" algn="l">
              <a:spcBef>
                <a:spcPts val="0"/>
              </a:spcBef>
              <a:spcAft>
                <a:spcPts val="0"/>
              </a:spcAft>
              <a:buNone/>
            </a:pPr>
            <a:r>
              <a:t/>
            </a:r>
            <a:endParaRPr/>
          </a:p>
        </p:txBody>
      </p:sp>
      <p:sp>
        <p:nvSpPr>
          <p:cNvPr id="210" name="Google Shape;21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7: QUESTIONS &amp;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I finalize recommendations, I need to validate my understanding. On the left are ten questions, prioritized. Let me call out the two that matter most.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Question 1: What is the system prompt template, and is anything appending to it automatically? This is THE question. The root cause of the entire cost spiral — which will double your API costs every two weeks — depends on this answer. I need to see the prompt template and any automated pipelines that touch it. We're looking for a cron job, a daily deployment, a content sync — anything that adds content over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Question 2: What changed with the inventory service on June 8th and 9th? Was there a deployment? A migration? A vendor update? This determines whether we need a code fix, a rollback, or a vendor escalation.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remaining questions cover the inventory timeout — was it intended as temporary? — what employees actually see when errors occur, the current max_tokens setting, your OpenAI usage tier, what the new teams' query patterns look like, whether tool definitions are sent on all routes, Lambda concurrency limits, and whether anyone was alerted to the Week 2 degradation.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are my working assumptions. I want to be transparent about what I'm assuming in the absence of answers so we can correct course if any are wrong.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want to highlight that assumptions 2 and 3 aren't really assumptions — they're proven by the data. The prompt growth being system-level is demonstrated by five independent signals. The inventory degradation being service-side is demonstrated by flat request volume. These aren't guesses.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rest are reasonable working assumptions that I'll update as we learn more. The important thing is that they're documented, not hidden. If any of these are wrong, the action plan adjusts accordingly — but the core priorities remain the same."</a:t>
            </a:r>
            <a:endParaRPr/>
          </a:p>
          <a:p>
            <a:pPr indent="0" lvl="0" marL="0" rtl="0" algn="l">
              <a:spcBef>
                <a:spcPts val="0"/>
              </a:spcBef>
              <a:spcAft>
                <a:spcPts val="0"/>
              </a:spcAft>
              <a:buNone/>
            </a:pPr>
            <a:r>
              <a:t/>
            </a:r>
            <a:endParaRPr/>
          </a:p>
        </p:txBody>
      </p:sp>
      <p:sp>
        <p:nvSpPr>
          <p:cNvPr id="255" name="Google Shape;255;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8: ACTION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the action plan in three phases. I've designed this so we never skip ahead without a solid foundation — each phase builds on the previous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Phase 1 — Stabilize, weeks 1 and 2. Six priority actions.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1, top priority: diagnose the prompt growth. I would work directly with your engineering team to review the system prompt template and any automated injection pipelines. We identify what adds those 86 tokens per day, cap it, and target a stable prompt under 1,000 tokens. We're looking for daily cron jobs appending few-shot examples, logging that injects prior context, growing tool schemas, or expanding metadata.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2: investigate the inventory service and implement graceful degradation in parallel. Your infrastructure team determines what changed June 8th-9th. Meanwhile, we implement partial-answer fallback: when inventory fails but retrieval and OpenAI succeed, serve the policy-based answer with a clear caveat — 'I don't have live inventory data right now, but here's the policy information.' Add a circuit breaker: after N consecutive inventory failures, skip the call entirely and fall through immediately. Never return a raw 500 error to an employee.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3: add thumbs up/down feedback in the OneStore widget, linked to trace_id. This is the minimum viable signal for answer quality and the prerequisite for understanding the 1.0 queries per user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4: enable prompt/completion logging for 10% of requests to S3. Privacy-reviewed with security and compliance. This data is required for the retrieval quality audit, the eval pipeline, and debugging prompt growth.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5: three one-line configuration fixes. Raise max_tokens to 1,024 to eliminate the 5.2% truncation rate — you pay per token generated, not the ceiling, so cost impact is negligible. Remove tool definitions from policy_only requests to save 73 tokens per request on 49% of traffic. And verify your OpenAI usage tier.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Action 6: set up monitoring with alerts for inventory p95 over 500 milliseconds, error rate over 3% per hour, daily prompt token drift, and any 429 rate-limit events. The Week 2 degradation should have been caught within 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Phase 2 — Optimize, weeks 3 through 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Parallelize retrieval and inventory with Promise.all — saves 70 to 140 milliseconds on 51% of traffic with zero risk since these calls have no dependency. Implement a chunk budget for predictable prompt sizes. Enable OpenAI prompt caching — this is a 50% discount on cached tokens and up to 80% faster time-to-first-token. The key requirement is that static content comes at the beginning of the prompt with variable content at the end. Evaluate GPT-4o-mini for policy_only traffic — it's 94% cheaper, but we only ship if the eval shows less than 5% quality drop. Add Redis for semantic caching. Implement proper retry strategy with error 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Phase 3 — Expand, weeks 7 through 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Build the evaluation framework with a golden dataset of 200+ questions. Implement end-to-end streaming — TTFT drops from a second to about 150 milliseconds, the single biggest UX improvement. Request Lambda concurrency increase for 4x scale. Set up per-team cost attribution. Load test at projected volume. Then pilot with one team, monitor for a week, and expand to the remaining two."</a:t>
            </a:r>
            <a:endParaRPr/>
          </a:p>
          <a:p>
            <a:pPr indent="0" lvl="0" marL="0" rtl="0" algn="l">
              <a:spcBef>
                <a:spcPts val="0"/>
              </a:spcBef>
              <a:spcAft>
                <a:spcPts val="0"/>
              </a:spcAft>
              <a:buNone/>
            </a:pPr>
            <a:r>
              <a:t/>
            </a:r>
            <a:endParaRPr/>
          </a:p>
        </p:txBody>
      </p:sp>
      <p:sp>
        <p:nvSpPr>
          <p:cNvPr id="300" name="Google Shape;30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9: PROPOSED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what the system looks like after all three phases. I want to emphasize — this is not a rewrite. Every change is targeted and incremental. The core pipeline stays the same.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Starting from the left: the employee widget now supports streaming token display, so instead of waiting a full second for a wall of text, words start appearing almost immediately — TTFT drops from about a second to about 150 milliseconds. It also has feedback buttons, source citations, and friendly error messages instead of raw 500 errors. These are the UX improvements that directly address the adoption concern.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API Gateway is replaced with a Lambda Function URL that supports response streaming natively — this is the simplest path to enable the streaming pipeline without a major infrastructure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Inside the Lambda, the big change is in the green box at top: retrieval and inventory now run in parallel via Promise.all. This saves 70 to 140 milliseconds on 51% of traffic. Inventory has a circuit breaker — after consecutive failures, we skip the call and fall through to a partial-answer handler immediately, avoiding the timeout penalty.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OpenAI call — in blue — now includes streaming, model routing between GPT-4o and GPT-4o-mini, prompt caching with a static prefix structure, max_tokens raised to 1,024, structured outputs for tool calls, and proper error classification with exponential backoff.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side of the Lambda box: provisioned concurrency for peak hours, circuit breakers per downstream service, graceful degradation, prompt logging, per-team cost attribution, and budget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Outside the Lambda: Redis handles component-level caching — embedding similarity matching for policy queries at 6 to 24 hour TTL, and structured product-plus-store keys for inventory at 10 minute TTL. This replaces the ineffective 5% exact-match caching.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bottom: the observability stack with dashboards, alerting, and feedback store. And the evaluation pipeline — 200+ golden Q&amp;A pairs, model-graded evals, gating every quality-affecting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Look at the metrics in the bottom right. TTFT from a second to 150 milliseconds. Peak errors from 8.2% to under 1%. Cache hits from 6% to 30-50%. Truncation from 5.2% to zero. Cost trend from +6.2% per day to flat. And prompt caching from 0% to over 50%.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None of these require rebuilding the system. They require engineering rigor applied to what's already there."</a:t>
            </a:r>
            <a:endParaRPr/>
          </a:p>
          <a:p>
            <a:pPr indent="0" lvl="0" marL="0" rtl="0" algn="l">
              <a:spcBef>
                <a:spcPts val="0"/>
              </a:spcBef>
              <a:spcAft>
                <a:spcPts val="0"/>
              </a:spcAft>
              <a:buNone/>
            </a:pPr>
            <a:r>
              <a:t/>
            </a:r>
            <a:endParaRPr/>
          </a:p>
        </p:txBody>
      </p:sp>
      <p:sp>
        <p:nvSpPr>
          <p:cNvPr id="369" name="Google Shape;36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10: TRADEOFFS &amp;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last topic: how I'd advise on tradeoffs, and how I'd ensure these recommendations actually get deployed.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left, four key tradeoff decisions — each presented as concrete options with data, not abstract concepts.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Model routing: GPT-4o-mini is 94% cheaper than GPT-4o for input tokens. For the 49% of traffic that's policy-only Q&amp;A, this is the biggest single cost lever available. But quality must be validated first. My recommendation: pursue it, but gate on evaluation — only ship if quality drop is less than 5% on a structured eval of 200+ representative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Prompt compression versus fine-tuning: manual trim is fast and low-risk — find what's growing, cap it, done in days. Fine-tuning encodes behavioral instructions into model weights permanently, potentially eliminating 1,500+ tokens of prompt context, but it's a weeks-long investment. My recommendation: do both sequentially. Fix the bleeding first, then evaluate fine-tuning as a medium-term optimization. These aren't exclusive — they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Expand now versus stabilize first: this is probably the most consequential decision. Option A gets three new teams access sooner. Option B delays 4-6 weeks but means those teams launch on solid ground. My strong recommendation: stabilize first. In retail, word-of-mouth among store employees is powerful. A bad first impression will suppress adoption across all three new teams simultaneously. An unreliable tool that employees abandon is worse than a delayed one they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Streaming: end-to-end streaming drops time-to-first-token from a second to about 150 milliseconds. It requires changes at three layers — widget, gateway, and Lambda. My recommendation: implement in Phase 3 after stabilization. It's the single biggest UX improvement and directly addresses the 1.0 queries per user adoption concern.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the right — how I ensure this gets deployed.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weekly executive summaries for the CIO and CTO with exactly three metrics — system availability, cost per request trend, and median response time — with one sentence of narrative each. No jargon. Something like: 'Availability improved from 91.8% to 97.5% during peak hours after the inventory circuit breaker was deployed. Cost per request stabilized for the first time in 3 weeks. On track for pilot team onboarding in week 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Bi-weekly technical reviews as working sessions with dashboards, and ad-hoc incident communication within 2 hours of any degradation — structured as what happened, what's impacted, what we're doing, when we'll update next.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Clear ownership split. I own the advisory and OpenAI-platform side: prompt diagnosis, caching architecture advice, eval design, fine-tuning resources, rate-limit escalation, architecture review. Your engineering team owns implementation: inventory fix, Redis, Lambda pipeline changes, graceful degradation, monitoring, feedback, the dashboard, load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implementation waves at bottom show the sequencing — quick fixes in week 1, stabilization through week 4, optimization through week 8, expansion through week 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expansion gates at the bottom are firm: all pre-expansion targets met for two consecutive weeks before we onboard the pilot team. If any metric regresses after pilot launch, we pause before adding the remaining teams. Targets are: above 99% availability, peak errors under 1%, cost trend flat, p50 under one second, and above 80% thumbs-up feedback 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isn't about moving slowly. It's about building on a foundation that holds. Thank you — I'm happy to take questions."</a:t>
            </a:r>
            <a:endParaRPr/>
          </a:p>
          <a:p>
            <a:pPr indent="0" lvl="0" marL="0" rtl="0" algn="l">
              <a:spcBef>
                <a:spcPts val="0"/>
              </a:spcBef>
              <a:spcAft>
                <a:spcPts val="0"/>
              </a:spcAft>
              <a:buNone/>
            </a:pPr>
            <a:r>
              <a:t/>
            </a:r>
            <a:endParaRPr/>
          </a:p>
        </p:txBody>
      </p:sp>
      <p:sp>
        <p:nvSpPr>
          <p:cNvPr id="412" name="Google Shape;41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10bb97ea7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10bb97ea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10bb97ea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g3d10bb97ea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TRACK — SLIDE 4: CURRENT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what the system looks like today, and I've annotated every problem I found directly on the diagram.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Starting from the left: the employee hits the OneStore widget, which makes a synchronous REST call through the API Gateway to a Lambda function. The widget has four significant gaps — no streaming, no feedback, no citations, and generic error messages. The API Gateway is synchronous only with no Server-Sent Events or WebSocket support, which means it buffers the entire response before sending anything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Inside the Lambda — and this is where most of the issues live — everything runs in series. Step 1 is retrieval from the vector store at about 70 milliseconds. Then it waits for retrieval to complete before starting Step 2, the inventory lookup, which takes 200 to 550 milliseconds. Then it waits for inventory before calling OpenAI, which takes about 750 milliseconds.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confirmed this serial execution across all 611 traces that include both retrieval and inventory spans — 611 out of 611. Every single one shows retrieval completing before inventory starts. These two calls have zero dependency on each other. A simple Promise.all would overlap them and save 70 to 140 milliseconds on 51% of traffic.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Look at the sample trace in the bottom left. You can see the gaps — retrieval finishes, then there's a pause before inventory starts, then another pause before OpenAI starts. 70 milliseconds wasted just waiting.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red annotations throughout show what's missing: no circuit breakers, no graceful degradation, no provisioned concurrency, naive retry without error classification, no prompt caching, no model routing. And on the right, CloudWatch is logging but there's no dashboard and no alerting. The Week 2 degradation should have been caught within hours — the fact that someone manually raised the inventory timeout tells me there's no automated alerting."</a:t>
            </a:r>
            <a:endParaRPr/>
          </a:p>
          <a:p>
            <a:pPr indent="0" lvl="0" marL="0" rtl="0" algn="l">
              <a:spcBef>
                <a:spcPts val="0"/>
              </a:spcBef>
              <a:spcAft>
                <a:spcPts val="0"/>
              </a:spcAft>
              <a:buNone/>
            </a:pPr>
            <a:r>
              <a:t/>
            </a:r>
            <a:endParaRPr/>
          </a:p>
        </p:txBody>
      </p:sp>
      <p:sp>
        <p:nvSpPr>
          <p:cNvPr id="441" name="Google Shape;441;g3d10bb97ea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371600"/>
            <a:ext cx="10058400" cy="78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500" u="none" cap="none" strike="noStrike">
                <a:solidFill>
                  <a:srgbClr val="FFFFFF"/>
                </a:solidFill>
                <a:latin typeface="Calibri"/>
                <a:ea typeface="Calibri"/>
                <a:cs typeface="Calibri"/>
                <a:sym typeface="Calibri"/>
              </a:rPr>
              <a:t>Internal Search Assistant</a:t>
            </a:r>
            <a:endParaRPr sz="1500"/>
          </a:p>
        </p:txBody>
      </p:sp>
      <p:sp>
        <p:nvSpPr>
          <p:cNvPr id="87" name="Google Shape;87;p1"/>
          <p:cNvSpPr txBox="1"/>
          <p:nvPr/>
        </p:nvSpPr>
        <p:spPr>
          <a:xfrm>
            <a:off x="914400" y="2286000"/>
            <a:ext cx="10058400" cy="53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900" u="none" cap="none" strike="noStrike">
                <a:solidFill>
                  <a:srgbClr val="F9E79F"/>
                </a:solidFill>
                <a:latin typeface="Calibri"/>
                <a:ea typeface="Calibri"/>
                <a:cs typeface="Calibri"/>
                <a:sym typeface="Calibri"/>
              </a:rPr>
              <a:t>ASE Operator Brief</a:t>
            </a:r>
            <a:endParaRPr sz="1500"/>
          </a:p>
        </p:txBody>
      </p:sp>
      <p:sp>
        <p:nvSpPr>
          <p:cNvPr id="88" name="Google Shape;88;p1"/>
          <p:cNvSpPr/>
          <p:nvPr/>
        </p:nvSpPr>
        <p:spPr>
          <a:xfrm>
            <a:off x="977374" y="3017523"/>
            <a:ext cx="2778300" cy="22800"/>
          </a:xfrm>
          <a:prstGeom prst="rect">
            <a:avLst/>
          </a:prstGeom>
          <a:solidFill>
            <a:srgbClr val="F9E79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txBox="1"/>
          <p:nvPr/>
        </p:nvSpPr>
        <p:spPr>
          <a:xfrm>
            <a:off x="914400" y="3383280"/>
            <a:ext cx="100584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300" u="none" cap="none" strike="noStrike">
                <a:solidFill>
                  <a:srgbClr val="CCDDEE"/>
                </a:solidFill>
                <a:latin typeface="Calibri"/>
                <a:ea typeface="Calibri"/>
                <a:cs typeface="Calibri"/>
                <a:sym typeface="Calibri"/>
              </a:rPr>
              <a:t>Prepared for:  CIO, CTO, and Senior Technical Leadership</a:t>
            </a:r>
            <a:endParaRPr sz="2100"/>
          </a:p>
        </p:txBody>
      </p:sp>
      <p:sp>
        <p:nvSpPr>
          <p:cNvPr id="90" name="Google Shape;90;p1"/>
          <p:cNvSpPr txBox="1"/>
          <p:nvPr/>
        </p:nvSpPr>
        <p:spPr>
          <a:xfrm>
            <a:off x="914400" y="5029200"/>
            <a:ext cx="100584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rgbClr val="8899AA"/>
                </a:solidFill>
                <a:latin typeface="Calibri"/>
                <a:ea typeface="Calibri"/>
                <a:cs typeface="Calibri"/>
                <a:sym typeface="Calibri"/>
              </a:rPr>
              <a:t>Ram Palagummi</a:t>
            </a:r>
            <a:r>
              <a:rPr b="0" i="0" lang="en-US" sz="2200" u="none" cap="none" strike="noStrike">
                <a:solidFill>
                  <a:srgbClr val="8899AA"/>
                </a:solidFill>
                <a:latin typeface="Calibri"/>
                <a:ea typeface="Calibri"/>
                <a:cs typeface="Calibri"/>
                <a:sym typeface="Calibri"/>
              </a:rPr>
              <a:t>, AI </a:t>
            </a:r>
            <a:r>
              <a:rPr lang="en-US" sz="2200">
                <a:solidFill>
                  <a:srgbClr val="8899AA"/>
                </a:solidFill>
                <a:latin typeface="Calibri"/>
                <a:ea typeface="Calibri"/>
                <a:cs typeface="Calibri"/>
                <a:sym typeface="Calibri"/>
              </a:rPr>
              <a:t>Solutions</a:t>
            </a:r>
            <a:r>
              <a:rPr b="0" i="0" lang="en-US" sz="2200" u="none" cap="none" strike="noStrike">
                <a:solidFill>
                  <a:srgbClr val="8899AA"/>
                </a:solidFill>
                <a:latin typeface="Calibri"/>
                <a:ea typeface="Calibri"/>
                <a:cs typeface="Calibri"/>
                <a:sym typeface="Calibri"/>
              </a:rPr>
              <a:t> Engineer</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2"/>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txBox="1"/>
          <p:nvPr/>
        </p:nvSpPr>
        <p:spPr>
          <a:xfrm>
            <a:off x="548640" y="137160"/>
            <a:ext cx="109728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rPr>
              <a:t>Bottom Line</a:t>
            </a:r>
            <a:endParaRPr/>
          </a:p>
        </p:txBody>
      </p:sp>
      <p:sp>
        <p:nvSpPr>
          <p:cNvPr id="98" name="Google Shape;98;p2"/>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2/10</a:t>
            </a:r>
            <a:endParaRPr/>
          </a:p>
        </p:txBody>
      </p:sp>
      <p:sp>
        <p:nvSpPr>
          <p:cNvPr id="100" name="Google Shape;100;p2"/>
          <p:cNvSpPr/>
          <p:nvPr/>
        </p:nvSpPr>
        <p:spPr>
          <a:xfrm>
            <a:off x="548640" y="1280160"/>
            <a:ext cx="11064240" cy="1463040"/>
          </a:xfrm>
          <a:prstGeom prst="roundRect">
            <a:avLst>
              <a:gd fmla="val 16667" name="adj"/>
            </a:avLst>
          </a:prstGeom>
          <a:solidFill>
            <a:srgbClr val="EFEFEF"/>
          </a:solidFill>
          <a:ln cap="flat" cmpd="sng" w="31750">
            <a:solidFill>
              <a:schemeClr val="dk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rtl="0" algn="l">
              <a:lnSpc>
                <a:spcPct val="150000"/>
              </a:lnSpc>
              <a:spcBef>
                <a:spcPts val="0"/>
              </a:spcBef>
              <a:spcAft>
                <a:spcPts val="0"/>
              </a:spcAft>
              <a:buNone/>
            </a:pPr>
            <a:r>
              <a:rPr b="1" lang="en-US" sz="1700">
                <a:solidFill>
                  <a:schemeClr val="dk2"/>
                </a:solidFill>
              </a:rPr>
              <a:t>14-Day Production Review  ·  June 1–14, 2024  ·  10% User Sample (1,200 Requests)  ·  5 Telemetry Files</a:t>
            </a:r>
            <a:endParaRPr b="1" sz="1900">
              <a:solidFill>
                <a:schemeClr val="dk2"/>
              </a:solidFill>
            </a:endParaRPr>
          </a:p>
          <a:p>
            <a:pPr indent="0" lvl="0" marL="0" marR="0" rtl="0" algn="l">
              <a:lnSpc>
                <a:spcPct val="150000"/>
              </a:lnSpc>
              <a:spcBef>
                <a:spcPts val="0"/>
              </a:spcBef>
              <a:spcAft>
                <a:spcPts val="0"/>
              </a:spcAft>
              <a:buNone/>
            </a:pPr>
            <a:r>
              <a:rPr b="1" i="0" lang="en-US" sz="1700" u="none" cap="none" strike="noStrike">
                <a:solidFill>
                  <a:schemeClr val="dk2"/>
                </a:solidFill>
              </a:rPr>
              <a:t>This system has two independent problems.</a:t>
            </a:r>
            <a:endParaRPr b="1" i="0" sz="1700" u="none" cap="none" strike="noStrike">
              <a:solidFill>
                <a:schemeClr val="dk2"/>
              </a:solidFill>
            </a:endParaRPr>
          </a:p>
          <a:p>
            <a:pPr indent="0" lvl="0" marL="0" marR="0" rtl="0" algn="l">
              <a:lnSpc>
                <a:spcPct val="150000"/>
              </a:lnSpc>
              <a:spcBef>
                <a:spcPts val="400"/>
              </a:spcBef>
              <a:spcAft>
                <a:spcPts val="0"/>
              </a:spcAft>
              <a:buNone/>
            </a:pPr>
            <a:r>
              <a:rPr b="1" i="0" lang="en-US" sz="1700" u="none" cap="none" strike="noStrike">
                <a:solidFill>
                  <a:schemeClr val="dk2"/>
                </a:solidFill>
              </a:rPr>
              <a:t>Neither is self-healing. Both must be resolved before expanding to three new teams.</a:t>
            </a:r>
            <a:endParaRPr sz="1700">
              <a:solidFill>
                <a:schemeClr val="dk2"/>
              </a:solidFill>
            </a:endParaRPr>
          </a:p>
        </p:txBody>
      </p:sp>
      <p:sp>
        <p:nvSpPr>
          <p:cNvPr id="101" name="Google Shape;101;p2"/>
          <p:cNvSpPr/>
          <p:nvPr/>
        </p:nvSpPr>
        <p:spPr>
          <a:xfrm>
            <a:off x="548640" y="3108960"/>
            <a:ext cx="5349240" cy="2286000"/>
          </a:xfrm>
          <a:prstGeom prst="roundRect">
            <a:avLst>
              <a:gd fmla="val 16667" name="adj"/>
            </a:avLst>
          </a:prstGeom>
          <a:solidFill>
            <a:srgbClr val="FFFFFF"/>
          </a:solidFill>
          <a:ln cap="flat" cmpd="sng" w="25400">
            <a:solidFill>
              <a:schemeClr val="dk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u="none" cap="none" strike="noStrike">
                <a:solidFill>
                  <a:srgbClr val="C0392B"/>
                </a:solidFill>
              </a:rPr>
              <a:t>PROBLEM 1: COST SPIRAL</a:t>
            </a:r>
            <a:endParaRPr b="1" i="0" u="none" cap="none" strike="noStrike">
              <a:solidFill>
                <a:srgbClr val="C0392B"/>
              </a:solidFill>
            </a:endParaRPr>
          </a:p>
          <a:p>
            <a:pPr indent="0" lvl="0" marL="0" marR="0" rtl="0" algn="l">
              <a:spcBef>
                <a:spcPts val="400"/>
              </a:spcBef>
              <a:spcAft>
                <a:spcPts val="0"/>
              </a:spcAft>
              <a:buNone/>
            </a:pPr>
            <a:r>
              <a:rPr b="1" i="0" lang="en-US" sz="1900" u="none" cap="none" strike="noStrike">
                <a:solidFill>
                  <a:srgbClr val="1A1A2E"/>
                </a:solidFill>
              </a:rPr>
              <a:t>Something adds ~86 tokens/day to every prompt</a:t>
            </a:r>
            <a:endParaRPr sz="1700"/>
          </a:p>
          <a:p>
            <a:pPr indent="0" lvl="0" marL="0" marR="0" rtl="0" algn="l">
              <a:spcBef>
                <a:spcPts val="400"/>
              </a:spcBef>
              <a:spcAft>
                <a:spcPts val="0"/>
              </a:spcAft>
              <a:buNone/>
            </a:pPr>
            <a:r>
              <a:rPr i="0" lang="en-US" sz="1600" u="none" cap="none" strike="noStrike">
                <a:solidFill>
                  <a:srgbClr val="555555"/>
                </a:solidFill>
              </a:rPr>
              <a:t>• Prompt tokens: 871 → 1,981 in 14 days (+127%)</a:t>
            </a:r>
            <a:endParaRPr sz="1700"/>
          </a:p>
          <a:p>
            <a:pPr indent="0" lvl="0" marL="0" marR="0" rtl="0" algn="l">
              <a:spcBef>
                <a:spcPts val="400"/>
              </a:spcBef>
              <a:spcAft>
                <a:spcPts val="0"/>
              </a:spcAft>
              <a:buNone/>
            </a:pPr>
            <a:r>
              <a:rPr i="0" lang="en-US" sz="1600" u="none" cap="none" strike="noStrike">
                <a:solidFill>
                  <a:srgbClr val="555555"/>
                </a:solidFill>
              </a:rPr>
              <a:t>• R² = 0.9997 — systematic, not random</a:t>
            </a:r>
            <a:endParaRPr sz="1700"/>
          </a:p>
          <a:p>
            <a:pPr indent="0" lvl="0" marL="0" marR="0" rtl="0" algn="l">
              <a:spcBef>
                <a:spcPts val="400"/>
              </a:spcBef>
              <a:spcAft>
                <a:spcPts val="0"/>
              </a:spcAft>
              <a:buNone/>
            </a:pPr>
            <a:r>
              <a:rPr i="0" lang="en-US" sz="1600" u="none" cap="none" strike="noStrike">
                <a:solidFill>
                  <a:srgbClr val="555555"/>
                </a:solidFill>
              </a:rPr>
              <a:t>• API costs double every ~2 weeks</a:t>
            </a:r>
            <a:endParaRPr sz="1700"/>
          </a:p>
          <a:p>
            <a:pPr indent="0" lvl="0" marL="0" marR="0" rtl="0" algn="l">
              <a:spcBef>
                <a:spcPts val="400"/>
              </a:spcBef>
              <a:spcAft>
                <a:spcPts val="0"/>
              </a:spcAft>
              <a:buNone/>
            </a:pPr>
            <a:r>
              <a:rPr i="0" lang="en-US" sz="1600" u="none" cap="none" strike="noStrike">
                <a:solidFill>
                  <a:srgbClr val="555555"/>
                </a:solidFill>
              </a:rPr>
              <a:t>• 100% of cost growth from input token inflation</a:t>
            </a:r>
            <a:endParaRPr sz="1700"/>
          </a:p>
        </p:txBody>
      </p:sp>
      <p:sp>
        <p:nvSpPr>
          <p:cNvPr id="102" name="Google Shape;102;p2"/>
          <p:cNvSpPr/>
          <p:nvPr/>
        </p:nvSpPr>
        <p:spPr>
          <a:xfrm>
            <a:off x="6263640" y="3108960"/>
            <a:ext cx="5349240" cy="2286000"/>
          </a:xfrm>
          <a:prstGeom prst="roundRect">
            <a:avLst>
              <a:gd fmla="val 16667" name="adj"/>
            </a:avLst>
          </a:prstGeom>
          <a:solidFill>
            <a:srgbClr val="FFFFFF"/>
          </a:solidFill>
          <a:ln cap="flat" cmpd="sng" w="25400">
            <a:solidFill>
              <a:schemeClr val="dk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u="none" cap="none" strike="noStrike">
                <a:solidFill>
                  <a:srgbClr val="E67E22"/>
                </a:solidFill>
              </a:rPr>
              <a:t>PROBLEM 2: LATENCY &amp; ERRORS</a:t>
            </a:r>
            <a:endParaRPr b="1" i="0" u="none" cap="none" strike="noStrike">
              <a:solidFill>
                <a:srgbClr val="E67E22"/>
              </a:solidFill>
            </a:endParaRPr>
          </a:p>
          <a:p>
            <a:pPr indent="0" lvl="0" marL="0" marR="0" rtl="0" algn="l">
              <a:spcBef>
                <a:spcPts val="400"/>
              </a:spcBef>
              <a:spcAft>
                <a:spcPts val="0"/>
              </a:spcAft>
              <a:buNone/>
            </a:pPr>
            <a:r>
              <a:rPr b="1" i="0" lang="en-US" sz="1900" u="none" cap="none" strike="noStrike">
                <a:solidFill>
                  <a:srgbClr val="1A1A2E"/>
                </a:solidFill>
              </a:rPr>
              <a:t>Inventory service degraded overnight on June 9</a:t>
            </a:r>
            <a:endParaRPr b="1" i="0" sz="1900" u="none" cap="none" strike="noStrike">
              <a:solidFill>
                <a:srgbClr val="1A1A2E"/>
              </a:solidFill>
            </a:endParaRPr>
          </a:p>
          <a:p>
            <a:pPr indent="0" lvl="0" marL="0" marR="0" rtl="0" algn="l">
              <a:spcBef>
                <a:spcPts val="400"/>
              </a:spcBef>
              <a:spcAft>
                <a:spcPts val="0"/>
              </a:spcAft>
              <a:buNone/>
            </a:pPr>
            <a:r>
              <a:rPr i="0" lang="en-US" sz="1600" u="none" cap="none" strike="noStrike">
                <a:solidFill>
                  <a:srgbClr val="555555"/>
                </a:solidFill>
              </a:rPr>
              <a:t>• Mean latency: 197ms → 520ms (2.6× increase)</a:t>
            </a:r>
            <a:endParaRPr sz="1700"/>
          </a:p>
          <a:p>
            <a:pPr indent="0" lvl="0" marL="0" marR="0" rtl="0" algn="l">
              <a:spcBef>
                <a:spcPts val="400"/>
              </a:spcBef>
              <a:spcAft>
                <a:spcPts val="0"/>
              </a:spcAft>
              <a:buNone/>
            </a:pPr>
            <a:r>
              <a:rPr i="0" lang="en-US" sz="1600" u="none" cap="none" strike="noStrike">
                <a:solidFill>
                  <a:srgbClr val="555555"/>
                </a:solidFill>
              </a:rPr>
              <a:t>• 14 new errors (0 in Week 1)</a:t>
            </a:r>
            <a:endParaRPr sz="1700"/>
          </a:p>
          <a:p>
            <a:pPr indent="0" lvl="0" marL="0" marR="0" rtl="0" algn="l">
              <a:spcBef>
                <a:spcPts val="400"/>
              </a:spcBef>
              <a:spcAft>
                <a:spcPts val="0"/>
              </a:spcAft>
              <a:buNone/>
            </a:pPr>
            <a:r>
              <a:rPr i="0" lang="en-US" sz="1600" u="none" cap="none" strike="noStrike">
                <a:solidFill>
                  <a:srgbClr val="555555"/>
                </a:solidFill>
              </a:rPr>
              <a:t>• Timeout raised reactively: 900ms → 1,300ms</a:t>
            </a:r>
            <a:endParaRPr sz="1700"/>
          </a:p>
          <a:p>
            <a:pPr indent="0" lvl="0" marL="0" marR="0" rtl="0" algn="l">
              <a:spcBef>
                <a:spcPts val="400"/>
              </a:spcBef>
              <a:spcAft>
                <a:spcPts val="0"/>
              </a:spcAft>
              <a:buNone/>
            </a:pPr>
            <a:r>
              <a:rPr i="0" lang="en-US" sz="1600" u="none" cap="none" strike="noStrike">
                <a:solidFill>
                  <a:srgbClr val="555555"/>
                </a:solidFill>
              </a:rPr>
              <a:t>• Affects 51% of all traffic</a:t>
            </a:r>
            <a:endParaRPr sz="1700"/>
          </a:p>
        </p:txBody>
      </p:sp>
      <p:sp>
        <p:nvSpPr>
          <p:cNvPr id="103" name="Google Shape;103;p2"/>
          <p:cNvSpPr/>
          <p:nvPr/>
        </p:nvSpPr>
        <p:spPr>
          <a:xfrm>
            <a:off x="3200400" y="5669280"/>
            <a:ext cx="5760720" cy="64008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0F3460"/>
                </a:solidFill>
              </a:rPr>
              <a:t>These problems are provably independent — different root causes, different fixes, same urgency.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3"/>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3"/>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What Is Happening Today</a:t>
            </a:r>
            <a:endParaRPr/>
          </a:p>
        </p:txBody>
      </p:sp>
      <p:sp>
        <p:nvSpPr>
          <p:cNvPr id="111" name="Google Shape;111;p3"/>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System &amp; Adoption State</a:t>
            </a:r>
            <a:endParaRPr/>
          </a:p>
        </p:txBody>
      </p:sp>
      <p:sp>
        <p:nvSpPr>
          <p:cNvPr id="112" name="Google Shape;112;p3"/>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3/10</a:t>
            </a:r>
            <a:endParaRPr/>
          </a:p>
        </p:txBody>
      </p:sp>
      <p:sp>
        <p:nvSpPr>
          <p:cNvPr id="114" name="Google Shape;114;p3"/>
          <p:cNvSpPr txBox="1"/>
          <p:nvPr/>
        </p:nvSpPr>
        <p:spPr>
          <a:xfrm>
            <a:off x="548640" y="1143000"/>
            <a:ext cx="53035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System Overview</a:t>
            </a:r>
            <a:endParaRPr/>
          </a:p>
        </p:txBody>
      </p:sp>
      <p:sp>
        <p:nvSpPr>
          <p:cNvPr id="115" name="Google Shape;115;p3"/>
          <p:cNvSpPr txBox="1"/>
          <p:nvPr/>
        </p:nvSpPr>
        <p:spPr>
          <a:xfrm>
            <a:off x="548650" y="1508751"/>
            <a:ext cx="5303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1A1A2E"/>
                </a:solidFill>
                <a:latin typeface="Calibri"/>
                <a:ea typeface="Calibri"/>
                <a:cs typeface="Calibri"/>
                <a:sym typeface="Calibri"/>
              </a:rPr>
              <a:t>•  ~860 requests/day from ~750 stores via OneStore widget</a:t>
            </a:r>
            <a:endParaRPr sz="1600"/>
          </a:p>
        </p:txBody>
      </p:sp>
      <p:sp>
        <p:nvSpPr>
          <p:cNvPr id="116" name="Google Shape;116;p3"/>
          <p:cNvSpPr txBox="1"/>
          <p:nvPr/>
        </p:nvSpPr>
        <p:spPr>
          <a:xfrm>
            <a:off x="548650" y="1966562"/>
            <a:ext cx="5303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1A1A2E"/>
                </a:solidFill>
                <a:latin typeface="Calibri"/>
                <a:ea typeface="Calibri"/>
                <a:cs typeface="Calibri"/>
                <a:sym typeface="Calibri"/>
              </a:rPr>
              <a:t>•  Strictly sequential pipeline (confirmed across all 611 traces):</a:t>
            </a:r>
            <a:endParaRPr sz="1600"/>
          </a:p>
        </p:txBody>
      </p:sp>
      <p:sp>
        <p:nvSpPr>
          <p:cNvPr id="117" name="Google Shape;117;p3"/>
          <p:cNvSpPr txBox="1"/>
          <p:nvPr/>
        </p:nvSpPr>
        <p:spPr>
          <a:xfrm>
            <a:off x="548650" y="2424373"/>
            <a:ext cx="5303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0F3460"/>
                </a:solidFill>
                <a:latin typeface="Calibri"/>
                <a:ea typeface="Calibri"/>
                <a:cs typeface="Calibri"/>
                <a:sym typeface="Calibri"/>
              </a:rPr>
              <a:t>     Retrieval (70ms) → Inventory (200–550ms) → GPT-4o (750ms)</a:t>
            </a:r>
            <a:endParaRPr sz="1600"/>
          </a:p>
        </p:txBody>
      </p:sp>
      <p:sp>
        <p:nvSpPr>
          <p:cNvPr id="118" name="Google Shape;118;p3"/>
          <p:cNvSpPr txBox="1"/>
          <p:nvPr/>
        </p:nvSpPr>
        <p:spPr>
          <a:xfrm>
            <a:off x="548650" y="2882185"/>
            <a:ext cx="5303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1A1A2E"/>
                </a:solidFill>
                <a:latin typeface="Calibri"/>
                <a:ea typeface="Calibri"/>
                <a:cs typeface="Calibri"/>
                <a:sym typeface="Calibri"/>
              </a:rPr>
              <a:t>•  Three routes: policy_only (49%), mixed (27%), inventory (24%)</a:t>
            </a:r>
            <a:endParaRPr sz="1600"/>
          </a:p>
        </p:txBody>
      </p:sp>
      <p:sp>
        <p:nvSpPr>
          <p:cNvPr id="119" name="Google Shape;119;p3"/>
          <p:cNvSpPr txBox="1"/>
          <p:nvPr/>
        </p:nvSpPr>
        <p:spPr>
          <a:xfrm>
            <a:off x="548650" y="3339996"/>
            <a:ext cx="5303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1A1A2E"/>
                </a:solidFill>
                <a:latin typeface="Calibri"/>
                <a:ea typeface="Calibri"/>
                <a:cs typeface="Calibri"/>
                <a:sym typeface="Calibri"/>
              </a:rPr>
              <a:t>•  GPT-4o used for 100% of requests — no model routing</a:t>
            </a:r>
            <a:endParaRPr sz="1600"/>
          </a:p>
        </p:txBody>
      </p:sp>
      <p:sp>
        <p:nvSpPr>
          <p:cNvPr id="120" name="Google Shape;120;p3"/>
          <p:cNvSpPr txBox="1"/>
          <p:nvPr/>
        </p:nvSpPr>
        <p:spPr>
          <a:xfrm>
            <a:off x="6217925" y="1143000"/>
            <a:ext cx="6026700" cy="3849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1" i="0" lang="en-US" sz="1818" u="none" cap="none" strike="noStrike">
                <a:solidFill>
                  <a:srgbClr val="C0392B"/>
                </a:solidFill>
                <a:latin typeface="Calibri"/>
                <a:ea typeface="Calibri"/>
                <a:cs typeface="Calibri"/>
                <a:sym typeface="Calibri"/>
              </a:rPr>
              <a:t>Adoption Signal</a:t>
            </a:r>
            <a:endParaRPr sz="1590"/>
          </a:p>
        </p:txBody>
      </p:sp>
      <p:sp>
        <p:nvSpPr>
          <p:cNvPr id="121" name="Google Shape;121;p3"/>
          <p:cNvSpPr txBox="1"/>
          <p:nvPr/>
        </p:nvSpPr>
        <p:spPr>
          <a:xfrm>
            <a:off x="6217925" y="1569800"/>
            <a:ext cx="6026700" cy="3303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1" i="0" lang="en-US" sz="1463" u="none" cap="none" strike="noStrike">
                <a:solidFill>
                  <a:srgbClr val="C0392B"/>
                </a:solidFill>
                <a:latin typeface="Calibri"/>
                <a:ea typeface="Calibri"/>
                <a:cs typeface="Calibri"/>
                <a:sym typeface="Calibri"/>
              </a:rPr>
              <a:t>•  1.0 queries per user over 14 days — try once and abandon</a:t>
            </a:r>
            <a:endParaRPr sz="1690"/>
          </a:p>
        </p:txBody>
      </p:sp>
      <p:sp>
        <p:nvSpPr>
          <p:cNvPr id="122" name="Google Shape;122;p3"/>
          <p:cNvSpPr txBox="1"/>
          <p:nvPr/>
        </p:nvSpPr>
        <p:spPr>
          <a:xfrm>
            <a:off x="6217925" y="2001013"/>
            <a:ext cx="6026700" cy="3303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0" i="0" lang="en-US" sz="1463" u="none" cap="none" strike="noStrike">
                <a:solidFill>
                  <a:srgbClr val="1A1A2E"/>
                </a:solidFill>
                <a:latin typeface="Calibri"/>
                <a:ea typeface="Calibri"/>
                <a:cs typeface="Calibri"/>
                <a:sym typeface="Calibri"/>
              </a:rPr>
              <a:t>•  1,200 unique users made exactly 1,200 requests</a:t>
            </a:r>
            <a:endParaRPr sz="1690"/>
          </a:p>
        </p:txBody>
      </p:sp>
      <p:sp>
        <p:nvSpPr>
          <p:cNvPr id="123" name="Google Shape;123;p3"/>
          <p:cNvSpPr txBox="1"/>
          <p:nvPr/>
        </p:nvSpPr>
        <p:spPr>
          <a:xfrm>
            <a:off x="6217925" y="2432226"/>
            <a:ext cx="6026700" cy="3303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0" i="0" lang="en-US" sz="1463" u="none" cap="none" strike="noStrike">
                <a:solidFill>
                  <a:srgbClr val="1A1A2E"/>
                </a:solidFill>
                <a:latin typeface="Calibri"/>
                <a:ea typeface="Calibri"/>
                <a:cs typeface="Calibri"/>
                <a:sym typeface="Calibri"/>
              </a:rPr>
              <a:t>•  Volume completely flat — zero adoption growth</a:t>
            </a:r>
            <a:endParaRPr sz="1690"/>
          </a:p>
        </p:txBody>
      </p:sp>
      <p:sp>
        <p:nvSpPr>
          <p:cNvPr id="124" name="Google Shape;124;p3"/>
          <p:cNvSpPr txBox="1"/>
          <p:nvPr/>
        </p:nvSpPr>
        <p:spPr>
          <a:xfrm>
            <a:off x="6217925" y="2863439"/>
            <a:ext cx="6026700" cy="3303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0" i="0" lang="en-US" sz="1463" u="none" cap="none" strike="noStrike">
                <a:solidFill>
                  <a:srgbClr val="1A1A2E"/>
                </a:solidFill>
                <a:latin typeface="Calibri"/>
                <a:ea typeface="Calibri"/>
                <a:cs typeface="Calibri"/>
                <a:sym typeface="Calibri"/>
              </a:rPr>
              <a:t>•  Maximum from any single store: 3 requests</a:t>
            </a:r>
            <a:endParaRPr sz="1690"/>
          </a:p>
        </p:txBody>
      </p:sp>
      <p:sp>
        <p:nvSpPr>
          <p:cNvPr id="125" name="Google Shape;125;p3"/>
          <p:cNvSpPr txBox="1"/>
          <p:nvPr/>
        </p:nvSpPr>
        <p:spPr>
          <a:xfrm>
            <a:off x="6217925" y="3294652"/>
            <a:ext cx="6026700" cy="330300"/>
          </a:xfrm>
          <a:prstGeom prst="rect">
            <a:avLst/>
          </a:prstGeom>
          <a:noFill/>
          <a:ln>
            <a:noFill/>
          </a:ln>
        </p:spPr>
        <p:txBody>
          <a:bodyPr anchorCtr="0" anchor="t" bIns="51925" lIns="103900" spcFirstLastPara="1" rIns="103900" wrap="square" tIns="51925">
            <a:spAutoFit/>
          </a:bodyPr>
          <a:lstStyle/>
          <a:p>
            <a:pPr indent="0" lvl="0" marL="0" marR="0" rtl="0" algn="l">
              <a:spcBef>
                <a:spcPts val="0"/>
              </a:spcBef>
              <a:spcAft>
                <a:spcPts val="0"/>
              </a:spcAft>
              <a:buNone/>
            </a:pPr>
            <a:r>
              <a:rPr b="0" i="0" lang="en-US" sz="1463" u="none" cap="none" strike="noStrike">
                <a:solidFill>
                  <a:srgbClr val="1A1A2E"/>
                </a:solidFill>
                <a:latin typeface="Calibri"/>
                <a:ea typeface="Calibri"/>
                <a:cs typeface="Calibri"/>
                <a:sym typeface="Calibri"/>
              </a:rPr>
              <a:t>•  Traffic peaks at 11–13h and 16–18h (retail patterns)</a:t>
            </a:r>
            <a:endParaRPr sz="1690"/>
          </a:p>
        </p:txBody>
      </p:sp>
      <p:sp>
        <p:nvSpPr>
          <p:cNvPr id="126" name="Google Shape;126;p3"/>
          <p:cNvSpPr txBox="1"/>
          <p:nvPr/>
        </p:nvSpPr>
        <p:spPr>
          <a:xfrm>
            <a:off x="548640" y="3855325"/>
            <a:ext cx="5486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Cache Performance</a:t>
            </a:r>
            <a:endParaRPr/>
          </a:p>
        </p:txBody>
      </p:sp>
      <p:graphicFrame>
        <p:nvGraphicFramePr>
          <p:cNvPr id="127" name="Google Shape;127;p3"/>
          <p:cNvGraphicFramePr/>
          <p:nvPr/>
        </p:nvGraphicFramePr>
        <p:xfrm>
          <a:off x="548640" y="4221085"/>
          <a:ext cx="3000000" cy="3000000"/>
        </p:xfrm>
        <a:graphic>
          <a:graphicData uri="http://schemas.openxmlformats.org/drawingml/2006/table">
            <a:tbl>
              <a:tblPr bandRow="1" firstRow="1">
                <a:noFill/>
                <a:tableStyleId>{CEE88E17-01CA-4FDC-A704-CEA885DBC39A}</a:tableStyleId>
              </a:tblPr>
              <a:tblGrid>
                <a:gridCol w="1654975"/>
                <a:gridCol w="861425"/>
                <a:gridCol w="2448575"/>
              </a:tblGrid>
              <a:tr h="297175">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Cache Layer</a:t>
                      </a:r>
                      <a:endParaRPr/>
                    </a:p>
                  </a:txBody>
                  <a:tcPr marT="45725" marB="45725" marR="91450" marL="91450">
                    <a:solidFill>
                      <a:srgbClr val="0F3460"/>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Hit Rate</a:t>
                      </a:r>
                      <a:endParaRPr/>
                    </a:p>
                  </a:txBody>
                  <a:tcPr marT="45725" marB="45725" marR="91450" marL="91450">
                    <a:solidFill>
                      <a:srgbClr val="0F3460"/>
                    </a:solidFill>
                  </a:tcPr>
                </a:tc>
                <a:tc>
                  <a:txBody>
                    <a:bodyPr/>
                    <a:lstStyle/>
                    <a:p>
                      <a:pPr indent="0" lvl="0" marL="0" marR="0" rtl="0" algn="l">
                        <a:spcBef>
                          <a:spcPts val="0"/>
                        </a:spcBef>
                        <a:spcAft>
                          <a:spcPts val="0"/>
                        </a:spcAft>
                        <a:buNone/>
                      </a:pPr>
                      <a:r>
                        <a:rPr b="1" lang="en-US" sz="1100" u="none" cap="none" strike="noStrike">
                          <a:solidFill>
                            <a:srgbClr val="FFFFFF"/>
                          </a:solidFill>
                          <a:latin typeface="Calibri"/>
                          <a:ea typeface="Calibri"/>
                          <a:cs typeface="Calibri"/>
                          <a:sym typeface="Calibri"/>
                        </a:rPr>
                        <a:t>Detail</a:t>
                      </a:r>
                      <a:endParaRPr/>
                    </a:p>
                  </a:txBody>
                  <a:tcPr marT="45725" marB="45725" marR="91450" marL="91450">
                    <a:solidFill>
                      <a:srgbClr val="0F3460"/>
                    </a:solidFill>
                  </a:tcPr>
                </a:tc>
              </a:tr>
              <a:tr h="297175">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Policy/Retrieval</a:t>
                      </a:r>
                      <a:endParaRPr/>
                    </a:p>
                  </a:txBody>
                  <a:tcPr marT="45725" marB="45725" marR="91450" marL="91450">
                    <a:solidFill>
                      <a:srgbClr val="F4F6F9"/>
                    </a:solidFill>
                  </a:tcPr>
                </a:tc>
                <a:tc>
                  <a:txBody>
                    <a:bodyPr/>
                    <a:lstStyle/>
                    <a:p>
                      <a:pPr indent="0" lvl="0" marL="0" marR="0" rtl="0" algn="l">
                        <a:spcBef>
                          <a:spcPts val="0"/>
                        </a:spcBef>
                        <a:spcAft>
                          <a:spcPts val="0"/>
                        </a:spcAft>
                        <a:buNone/>
                      </a:pPr>
                      <a:r>
                        <a:rPr b="1" lang="en-US" sz="1100" u="none" cap="none" strike="noStrike">
                          <a:solidFill>
                            <a:srgbClr val="C0392B"/>
                          </a:solidFill>
                          <a:latin typeface="Calibri"/>
                          <a:ea typeface="Calibri"/>
                          <a:cs typeface="Calibri"/>
                          <a:sym typeface="Calibri"/>
                        </a:rPr>
                        <a:t>5.8%</a:t>
                      </a:r>
                      <a:endParaRPr/>
                    </a:p>
                  </a:txBody>
                  <a:tcPr marT="45725" marB="45725" marR="91450" marL="91450">
                    <a:solidFill>
                      <a:srgbClr val="F4F6F9"/>
                    </a:solidFill>
                  </a:tcPr>
                </a:tc>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70 / 1,200 requests</a:t>
                      </a:r>
                      <a:endParaRPr/>
                    </a:p>
                  </a:txBody>
                  <a:tcPr marT="45725" marB="45725" marR="91450" marL="91450">
                    <a:solidFill>
                      <a:srgbClr val="F4F6F9"/>
                    </a:solidFill>
                  </a:tcPr>
                </a:tc>
              </a:tr>
              <a:tr h="297175">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Inventory</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en-US" sz="1100" u="none" cap="none" strike="noStrike">
                          <a:solidFill>
                            <a:srgbClr val="C0392B"/>
                          </a:solidFill>
                          <a:latin typeface="Calibri"/>
                          <a:ea typeface="Calibri"/>
                          <a:cs typeface="Calibri"/>
                          <a:sym typeface="Calibri"/>
                        </a:rPr>
                        <a:t>5.6%</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34 / 611 inventory-route requests</a:t>
                      </a:r>
                      <a:endParaRPr/>
                    </a:p>
                  </a:txBody>
                  <a:tcPr marT="45725" marB="45725" marR="91450" marL="91450">
                    <a:solidFill>
                      <a:srgbClr val="FFFFFF"/>
                    </a:solidFill>
                  </a:tcPr>
                </a:tc>
              </a:tr>
              <a:tr h="297175">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OpenAI Response</a:t>
                      </a:r>
                      <a:endParaRPr/>
                    </a:p>
                  </a:txBody>
                  <a:tcPr marT="45725" marB="45725" marR="91450" marL="91450">
                    <a:solidFill>
                      <a:srgbClr val="F4F6F9"/>
                    </a:solidFill>
                  </a:tcPr>
                </a:tc>
                <a:tc>
                  <a:txBody>
                    <a:bodyPr/>
                    <a:lstStyle/>
                    <a:p>
                      <a:pPr indent="0" lvl="0" marL="0" marR="0" rtl="0" algn="l">
                        <a:spcBef>
                          <a:spcPts val="0"/>
                        </a:spcBef>
                        <a:spcAft>
                          <a:spcPts val="0"/>
                        </a:spcAft>
                        <a:buNone/>
                      </a:pPr>
                      <a:r>
                        <a:rPr b="1" lang="en-US" sz="1100" u="none" cap="none" strike="noStrike">
                          <a:solidFill>
                            <a:srgbClr val="C0392B"/>
                          </a:solidFill>
                          <a:latin typeface="Calibri"/>
                          <a:ea typeface="Calibri"/>
                          <a:cs typeface="Calibri"/>
                          <a:sym typeface="Calibri"/>
                        </a:rPr>
                        <a:t>0.0%</a:t>
                      </a:r>
                      <a:endParaRPr/>
                    </a:p>
                  </a:txBody>
                  <a:tcPr marT="45725" marB="45725" marR="91450" marL="91450">
                    <a:solidFill>
                      <a:srgbClr val="F4F6F9"/>
                    </a:solidFill>
                  </a:tcPr>
                </a:tc>
                <a:tc>
                  <a:txBody>
                    <a:bodyPr/>
                    <a:lstStyle/>
                    <a:p>
                      <a:pPr indent="0" lvl="0" marL="0" marR="0" rtl="0" algn="l">
                        <a:spcBef>
                          <a:spcPts val="0"/>
                        </a:spcBef>
                        <a:spcAft>
                          <a:spcPts val="0"/>
                        </a:spcAft>
                        <a:buNone/>
                      </a:pPr>
                      <a:r>
                        <a:rPr b="0" lang="en-US" sz="1100" u="none" cap="none" strike="noStrike">
                          <a:solidFill>
                            <a:srgbClr val="1A1A2E"/>
                          </a:solidFill>
                          <a:latin typeface="Calibri"/>
                          <a:ea typeface="Calibri"/>
                          <a:cs typeface="Calibri"/>
                          <a:sym typeface="Calibri"/>
                        </a:rPr>
                        <a:t>0 / 1,200 requests</a:t>
                      </a:r>
                      <a:endParaRPr/>
                    </a:p>
                  </a:txBody>
                  <a:tcPr marT="45725" marB="45725" marR="91450" marL="91450">
                    <a:solidFill>
                      <a:srgbClr val="F4F6F9"/>
                    </a:solidFill>
                  </a:tcPr>
                </a:tc>
              </a:tr>
            </a:tbl>
          </a:graphicData>
        </a:graphic>
      </p:graphicFrame>
      <p:sp>
        <p:nvSpPr>
          <p:cNvPr id="128" name="Google Shape;128;p3"/>
          <p:cNvSpPr/>
          <p:nvPr/>
        </p:nvSpPr>
        <p:spPr>
          <a:xfrm>
            <a:off x="548650" y="5740546"/>
            <a:ext cx="4882200" cy="320100"/>
          </a:xfrm>
          <a:prstGeom prst="roundRect">
            <a:avLst>
              <a:gd fmla="val 16667" name="adj"/>
            </a:avLst>
          </a:prstGeom>
          <a:solidFill>
            <a:srgbClr val="F3F3F3"/>
          </a:solidFill>
          <a:ln cap="flat" cmpd="sng" w="12700">
            <a:solidFill>
              <a:srgbClr val="C0392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C0392B"/>
                </a:solidFill>
                <a:latin typeface="Calibri"/>
                <a:ea typeface="Calibri"/>
                <a:cs typeface="Calibri"/>
                <a:sym typeface="Calibri"/>
              </a:rPr>
              <a:t>91.4% of requests hit neither cache  —  No dedicated caching infrastructure</a:t>
            </a:r>
            <a:r>
              <a:rPr b="1" lang="en-US" sz="1200">
                <a:solidFill>
                  <a:srgbClr val="C0392B"/>
                </a:solidFill>
                <a:latin typeface="Calibri"/>
                <a:ea typeface="Calibri"/>
                <a:cs typeface="Calibri"/>
                <a:sym typeface="Calibri"/>
              </a:rPr>
              <a:t> </a:t>
            </a:r>
            <a:r>
              <a:rPr b="1" i="0" lang="en-US" sz="1200" u="none" cap="none" strike="noStrike">
                <a:solidFill>
                  <a:srgbClr val="C0392B"/>
                </a:solidFill>
                <a:latin typeface="Calibri"/>
                <a:ea typeface="Calibri"/>
                <a:cs typeface="Calibri"/>
                <a:sym typeface="Calibri"/>
              </a:rPr>
              <a:t> visible</a:t>
            </a:r>
            <a:endParaRPr/>
          </a:p>
        </p:txBody>
      </p:sp>
      <p:sp>
        <p:nvSpPr>
          <p:cNvPr id="129" name="Google Shape;129;p3"/>
          <p:cNvSpPr txBox="1"/>
          <p:nvPr/>
        </p:nvSpPr>
        <p:spPr>
          <a:xfrm>
            <a:off x="6217926" y="3893109"/>
            <a:ext cx="5859900" cy="3741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767" u="none" cap="none" strike="noStrike">
                <a:solidFill>
                  <a:srgbClr val="0F3460"/>
                </a:solidFill>
                <a:latin typeface="Calibri"/>
                <a:ea typeface="Calibri"/>
                <a:cs typeface="Calibri"/>
                <a:sym typeface="Calibri"/>
              </a:rPr>
              <a:t>UX &amp; Widget Gaps</a:t>
            </a:r>
            <a:endParaRPr sz="1546"/>
          </a:p>
        </p:txBody>
      </p:sp>
      <p:sp>
        <p:nvSpPr>
          <p:cNvPr id="130" name="Google Shape;130;p3"/>
          <p:cNvSpPr txBox="1"/>
          <p:nvPr/>
        </p:nvSpPr>
        <p:spPr>
          <a:xfrm>
            <a:off x="6217926" y="4297250"/>
            <a:ext cx="5859900" cy="3060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325" u="none" cap="none" strike="noStrike">
                <a:solidFill>
                  <a:srgbClr val="C0392B"/>
                </a:solidFill>
                <a:latin typeface="Calibri"/>
                <a:ea typeface="Calibri"/>
                <a:cs typeface="Calibri"/>
                <a:sym typeface="Calibri"/>
              </a:rPr>
              <a:t>✗  No streaming</a:t>
            </a:r>
            <a:endParaRPr sz="1546"/>
          </a:p>
        </p:txBody>
      </p:sp>
      <p:sp>
        <p:nvSpPr>
          <p:cNvPr id="131" name="Google Shape;131;p3"/>
          <p:cNvSpPr txBox="1"/>
          <p:nvPr/>
        </p:nvSpPr>
        <p:spPr>
          <a:xfrm>
            <a:off x="8743801" y="4297258"/>
            <a:ext cx="2503200" cy="2892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0" i="0" lang="en-US" sz="1215" u="none" cap="none" strike="noStrike">
                <a:solidFill>
                  <a:srgbClr val="555555"/>
                </a:solidFill>
                <a:latin typeface="Calibri"/>
                <a:ea typeface="Calibri"/>
                <a:cs typeface="Calibri"/>
                <a:sym typeface="Calibri"/>
              </a:rPr>
              <a:t>Employees stare at blank screen ~1s</a:t>
            </a:r>
            <a:endParaRPr sz="1546"/>
          </a:p>
        </p:txBody>
      </p:sp>
      <p:sp>
        <p:nvSpPr>
          <p:cNvPr id="132" name="Google Shape;132;p3"/>
          <p:cNvSpPr txBox="1"/>
          <p:nvPr/>
        </p:nvSpPr>
        <p:spPr>
          <a:xfrm>
            <a:off x="6217926" y="4681184"/>
            <a:ext cx="5859900" cy="3060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325" u="none" cap="none" strike="noStrike">
                <a:solidFill>
                  <a:srgbClr val="C0392B"/>
                </a:solidFill>
                <a:latin typeface="Calibri"/>
                <a:ea typeface="Calibri"/>
                <a:cs typeface="Calibri"/>
                <a:sym typeface="Calibri"/>
              </a:rPr>
              <a:t>✗  No feedback mechanism</a:t>
            </a:r>
            <a:endParaRPr sz="1546"/>
          </a:p>
        </p:txBody>
      </p:sp>
      <p:sp>
        <p:nvSpPr>
          <p:cNvPr id="133" name="Google Shape;133;p3"/>
          <p:cNvSpPr txBox="1"/>
          <p:nvPr/>
        </p:nvSpPr>
        <p:spPr>
          <a:xfrm>
            <a:off x="8743801" y="4681184"/>
            <a:ext cx="2253900" cy="2892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0" i="0" lang="en-US" sz="1215" u="none" cap="none" strike="noStrike">
                <a:solidFill>
                  <a:srgbClr val="555555"/>
                </a:solidFill>
                <a:latin typeface="Calibri"/>
                <a:ea typeface="Calibri"/>
                <a:cs typeface="Calibri"/>
                <a:sym typeface="Calibri"/>
              </a:rPr>
              <a:t>Can't measure answer quality</a:t>
            </a:r>
            <a:endParaRPr sz="1546"/>
          </a:p>
        </p:txBody>
      </p:sp>
      <p:sp>
        <p:nvSpPr>
          <p:cNvPr id="134" name="Google Shape;134;p3"/>
          <p:cNvSpPr txBox="1"/>
          <p:nvPr/>
        </p:nvSpPr>
        <p:spPr>
          <a:xfrm>
            <a:off x="6217926" y="5065118"/>
            <a:ext cx="5859900" cy="3060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325" u="none" cap="none" strike="noStrike">
                <a:solidFill>
                  <a:srgbClr val="C0392B"/>
                </a:solidFill>
                <a:latin typeface="Calibri"/>
                <a:ea typeface="Calibri"/>
                <a:cs typeface="Calibri"/>
                <a:sym typeface="Calibri"/>
              </a:rPr>
              <a:t>✗  No source citations</a:t>
            </a:r>
            <a:endParaRPr sz="1546"/>
          </a:p>
        </p:txBody>
      </p:sp>
      <p:sp>
        <p:nvSpPr>
          <p:cNvPr id="135" name="Google Shape;135;p3"/>
          <p:cNvSpPr txBox="1"/>
          <p:nvPr/>
        </p:nvSpPr>
        <p:spPr>
          <a:xfrm>
            <a:off x="8743801" y="5065112"/>
            <a:ext cx="2253900" cy="2892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0" i="0" lang="en-US" sz="1215" u="none" cap="none" strike="noStrike">
                <a:solidFill>
                  <a:srgbClr val="555555"/>
                </a:solidFill>
                <a:latin typeface="Calibri"/>
                <a:ea typeface="Calibri"/>
                <a:cs typeface="Calibri"/>
                <a:sym typeface="Calibri"/>
              </a:rPr>
              <a:t>Employees can't verify answers</a:t>
            </a:r>
            <a:endParaRPr sz="1546"/>
          </a:p>
        </p:txBody>
      </p:sp>
      <p:sp>
        <p:nvSpPr>
          <p:cNvPr id="136" name="Google Shape;136;p3"/>
          <p:cNvSpPr txBox="1"/>
          <p:nvPr/>
        </p:nvSpPr>
        <p:spPr>
          <a:xfrm>
            <a:off x="6217926" y="5449051"/>
            <a:ext cx="5859900" cy="3060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325" u="none" cap="none" strike="noStrike">
                <a:solidFill>
                  <a:srgbClr val="C0392B"/>
                </a:solidFill>
                <a:latin typeface="Calibri"/>
                <a:ea typeface="Calibri"/>
                <a:cs typeface="Calibri"/>
                <a:sym typeface="Calibri"/>
              </a:rPr>
              <a:t>✗  Generic error messages</a:t>
            </a:r>
            <a:endParaRPr sz="1546"/>
          </a:p>
        </p:txBody>
      </p:sp>
      <p:sp>
        <p:nvSpPr>
          <p:cNvPr id="137" name="Google Shape;137;p3"/>
          <p:cNvSpPr txBox="1"/>
          <p:nvPr/>
        </p:nvSpPr>
        <p:spPr>
          <a:xfrm>
            <a:off x="8743801" y="5449058"/>
            <a:ext cx="2503200" cy="2892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0" i="0" lang="en-US" sz="1215" u="none" cap="none" strike="noStrike">
                <a:solidFill>
                  <a:srgbClr val="555555"/>
                </a:solidFill>
                <a:latin typeface="Calibri"/>
                <a:ea typeface="Calibri"/>
                <a:cs typeface="Calibri"/>
                <a:sym typeface="Calibri"/>
              </a:rPr>
              <a:t>Raw 500/502/504 returned to users</a:t>
            </a:r>
            <a:endParaRPr sz="1546"/>
          </a:p>
        </p:txBody>
      </p:sp>
      <p:sp>
        <p:nvSpPr>
          <p:cNvPr id="138" name="Google Shape;138;p3"/>
          <p:cNvSpPr txBox="1"/>
          <p:nvPr/>
        </p:nvSpPr>
        <p:spPr>
          <a:xfrm>
            <a:off x="6217926" y="5832985"/>
            <a:ext cx="5859900" cy="3060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1" i="0" lang="en-US" sz="1325" u="none" cap="none" strike="noStrike">
                <a:solidFill>
                  <a:srgbClr val="C0392B"/>
                </a:solidFill>
                <a:latin typeface="Calibri"/>
                <a:ea typeface="Calibri"/>
                <a:cs typeface="Calibri"/>
                <a:sym typeface="Calibri"/>
              </a:rPr>
              <a:t>✗  No suggested queries</a:t>
            </a:r>
            <a:endParaRPr sz="1546"/>
          </a:p>
        </p:txBody>
      </p:sp>
      <p:sp>
        <p:nvSpPr>
          <p:cNvPr id="139" name="Google Shape;139;p3"/>
          <p:cNvSpPr txBox="1"/>
          <p:nvPr/>
        </p:nvSpPr>
        <p:spPr>
          <a:xfrm>
            <a:off x="8743801" y="5832984"/>
            <a:ext cx="2392500" cy="289200"/>
          </a:xfrm>
          <a:prstGeom prst="rect">
            <a:avLst/>
          </a:prstGeom>
          <a:noFill/>
          <a:ln>
            <a:noFill/>
          </a:ln>
        </p:spPr>
        <p:txBody>
          <a:bodyPr anchorCtr="0" anchor="t" bIns="50500" lIns="101025" spcFirstLastPara="1" rIns="101025" wrap="square" tIns="50500">
            <a:spAutoFit/>
          </a:bodyPr>
          <a:lstStyle/>
          <a:p>
            <a:pPr indent="0" lvl="0" marL="0" marR="0" rtl="0" algn="l">
              <a:spcBef>
                <a:spcPts val="0"/>
              </a:spcBef>
              <a:spcAft>
                <a:spcPts val="0"/>
              </a:spcAft>
              <a:buNone/>
            </a:pPr>
            <a:r>
              <a:rPr b="0" i="0" lang="en-US" sz="1215" u="none" cap="none" strike="noStrike">
                <a:solidFill>
                  <a:srgbClr val="555555"/>
                </a:solidFill>
                <a:latin typeface="Calibri"/>
                <a:ea typeface="Calibri"/>
                <a:cs typeface="Calibri"/>
                <a:sym typeface="Calibri"/>
              </a:rPr>
              <a:t>No guidance for employees</a:t>
            </a:r>
            <a:endParaRPr sz="1546"/>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4"/>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4"/>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Current Architecture</a:t>
            </a:r>
            <a:endParaRPr/>
          </a:p>
        </p:txBody>
      </p:sp>
      <p:sp>
        <p:nvSpPr>
          <p:cNvPr id="147" name="Google Shape;147;p4"/>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Problems Annotated  ·  Proven Across 611/611 Traces</a:t>
            </a:r>
            <a:endParaRPr/>
          </a:p>
        </p:txBody>
      </p:sp>
      <p:sp>
        <p:nvSpPr>
          <p:cNvPr id="148" name="Google Shape;148;p4"/>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4/10</a:t>
            </a:r>
            <a:endParaRPr/>
          </a:p>
        </p:txBody>
      </p:sp>
      <p:sp>
        <p:nvSpPr>
          <p:cNvPr id="150" name="Google Shape;150;p4"/>
          <p:cNvSpPr/>
          <p:nvPr/>
        </p:nvSpPr>
        <p:spPr>
          <a:xfrm>
            <a:off x="365760" y="2194560"/>
            <a:ext cx="1463040" cy="1645920"/>
          </a:xfrm>
          <a:prstGeom prst="roundRect">
            <a:avLst>
              <a:gd fmla="val 16667" name="adj"/>
            </a:avLst>
          </a:prstGeom>
          <a:solidFill>
            <a:srgbClr val="E8EEF6"/>
          </a:solidFill>
          <a:ln cap="flat" cmpd="sng" w="254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0F3460"/>
                </a:solidFill>
                <a:latin typeface="Calibri"/>
                <a:ea typeface="Calibri"/>
                <a:cs typeface="Calibri"/>
                <a:sym typeface="Calibri"/>
              </a:rPr>
              <a:t>Employee</a:t>
            </a:r>
            <a:endParaRPr/>
          </a:p>
          <a:p>
            <a:pPr indent="0" lvl="0" marL="0" marR="0" rtl="0" algn="ctr">
              <a:spcBef>
                <a:spcPts val="400"/>
              </a:spcBef>
              <a:spcAft>
                <a:spcPts val="0"/>
              </a:spcAft>
              <a:buNone/>
            </a:pPr>
            <a:r>
              <a:rPr b="0" i="0" lang="en-US" sz="1100" u="none" cap="none" strike="noStrike">
                <a:solidFill>
                  <a:srgbClr val="555555"/>
                </a:solidFill>
                <a:latin typeface="Calibri"/>
                <a:ea typeface="Calibri"/>
                <a:cs typeface="Calibri"/>
                <a:sym typeface="Calibri"/>
              </a:rPr>
              <a:t>OneStore Widget</a:t>
            </a:r>
            <a:endParaRPr/>
          </a:p>
          <a:p>
            <a:pPr indent="0" lvl="0" marL="0" marR="0" rtl="0" algn="l">
              <a:spcBef>
                <a:spcPts val="400"/>
              </a:spcBef>
              <a:spcAft>
                <a:spcPts val="0"/>
              </a:spcAft>
              <a:buNone/>
            </a:pPr>
            <a:r>
              <a:t/>
            </a:r>
            <a:endParaRPr b="0" i="0" sz="11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streaming</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feedback</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citations</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Generic errors</a:t>
            </a:r>
            <a:endParaRPr/>
          </a:p>
        </p:txBody>
      </p:sp>
      <p:sp>
        <p:nvSpPr>
          <p:cNvPr id="151" name="Google Shape;151;p4"/>
          <p:cNvSpPr/>
          <p:nvPr/>
        </p:nvSpPr>
        <p:spPr>
          <a:xfrm>
            <a:off x="2194560" y="2468880"/>
            <a:ext cx="1280160" cy="1005840"/>
          </a:xfrm>
          <a:prstGeom prst="roundRect">
            <a:avLst>
              <a:gd fmla="val 16667" name="adj"/>
            </a:avLst>
          </a:prstGeom>
          <a:solidFill>
            <a:schemeClr val="lt1"/>
          </a:solidFill>
          <a:ln cap="flat" cmpd="sng" w="25400">
            <a:solidFill>
              <a:srgbClr val="D4A01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7D6608"/>
                </a:solidFill>
                <a:latin typeface="Calibri"/>
                <a:ea typeface="Calibri"/>
                <a:cs typeface="Calibri"/>
                <a:sym typeface="Calibri"/>
              </a:rPr>
              <a:t>API Gateway</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REST / Sync</a:t>
            </a:r>
            <a:endParaRPr b="0" i="0" sz="10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SSE/WebSocket</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Buffers full response</a:t>
            </a:r>
            <a:endParaRPr/>
          </a:p>
        </p:txBody>
      </p:sp>
      <p:cxnSp>
        <p:nvCxnSpPr>
          <p:cNvPr id="152" name="Google Shape;152;p4"/>
          <p:cNvCxnSpPr/>
          <p:nvPr/>
        </p:nvCxnSpPr>
        <p:spPr>
          <a:xfrm>
            <a:off x="1828800" y="2971800"/>
            <a:ext cx="365760" cy="0"/>
          </a:xfrm>
          <a:prstGeom prst="straightConnector1">
            <a:avLst/>
          </a:prstGeom>
          <a:noFill/>
          <a:ln cap="flat" cmpd="sng" w="25400">
            <a:solidFill>
              <a:srgbClr val="555555"/>
            </a:solidFill>
            <a:prstDash val="solid"/>
            <a:round/>
            <a:headEnd len="sm" w="sm" type="none"/>
            <a:tailEnd len="sm" w="sm" type="triangle"/>
          </a:ln>
          <a:effectLst>
            <a:outerShdw blurRad="40000" rotWithShape="0" dir="5400000" dist="20000">
              <a:srgbClr val="000000">
                <a:alpha val="38039"/>
              </a:srgbClr>
            </a:outerShdw>
          </a:effectLst>
        </p:spPr>
      </p:cxnSp>
      <p:sp>
        <p:nvSpPr>
          <p:cNvPr id="153" name="Google Shape;153;p4"/>
          <p:cNvSpPr/>
          <p:nvPr/>
        </p:nvSpPr>
        <p:spPr>
          <a:xfrm>
            <a:off x="3840480" y="1280160"/>
            <a:ext cx="7772400" cy="5029200"/>
          </a:xfrm>
          <a:prstGeom prst="roundRect">
            <a:avLst>
              <a:gd fmla="val 16667" name="adj"/>
            </a:avLst>
          </a:prstGeom>
          <a:solidFill>
            <a:srgbClr val="FFFFFF"/>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4"/>
          <p:cNvSpPr txBox="1"/>
          <p:nvPr/>
        </p:nvSpPr>
        <p:spPr>
          <a:xfrm>
            <a:off x="4114800" y="1417320"/>
            <a:ext cx="7315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67E22"/>
                </a:solidFill>
                <a:latin typeface="Calibri"/>
                <a:ea typeface="Calibri"/>
                <a:cs typeface="Calibri"/>
                <a:sym typeface="Calibri"/>
              </a:rPr>
              <a:t>Lambda (Node.js) — Orchestrator</a:t>
            </a:r>
            <a:endParaRPr/>
          </a:p>
        </p:txBody>
      </p:sp>
      <p:cxnSp>
        <p:nvCxnSpPr>
          <p:cNvPr id="155" name="Google Shape;155;p4"/>
          <p:cNvCxnSpPr/>
          <p:nvPr/>
        </p:nvCxnSpPr>
        <p:spPr>
          <a:xfrm>
            <a:off x="3474720" y="2971800"/>
            <a:ext cx="365760" cy="0"/>
          </a:xfrm>
          <a:prstGeom prst="straightConnector1">
            <a:avLst/>
          </a:prstGeom>
          <a:noFill/>
          <a:ln cap="flat" cmpd="sng" w="25400">
            <a:solidFill>
              <a:srgbClr val="555555"/>
            </a:solidFill>
            <a:prstDash val="solid"/>
            <a:round/>
            <a:headEnd len="sm" w="sm" type="none"/>
            <a:tailEnd len="sm" w="sm" type="triangle"/>
          </a:ln>
          <a:effectLst>
            <a:outerShdw blurRad="40000" rotWithShape="0" dir="5400000" dist="20000">
              <a:srgbClr val="000000">
                <a:alpha val="38039"/>
              </a:srgbClr>
            </a:outerShdw>
          </a:effectLst>
        </p:spPr>
      </p:cxnSp>
      <p:sp>
        <p:nvSpPr>
          <p:cNvPr id="156" name="Google Shape;156;p4"/>
          <p:cNvSpPr/>
          <p:nvPr/>
        </p:nvSpPr>
        <p:spPr>
          <a:xfrm>
            <a:off x="4206240" y="1920240"/>
            <a:ext cx="2194560" cy="109728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27AE60"/>
                </a:solidFill>
                <a:latin typeface="Calibri"/>
                <a:ea typeface="Calibri"/>
                <a:cs typeface="Calibri"/>
                <a:sym typeface="Calibri"/>
              </a:rPr>
              <a:t>Step 1: Retrieval</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Vector Store  |  70ms avg</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Cache: 5.8% hit  |  0% errors</a:t>
            </a:r>
            <a:endParaRPr/>
          </a:p>
        </p:txBody>
      </p:sp>
      <p:sp>
        <p:nvSpPr>
          <p:cNvPr id="157" name="Google Shape;157;p4"/>
          <p:cNvSpPr/>
          <p:nvPr/>
        </p:nvSpPr>
        <p:spPr>
          <a:xfrm>
            <a:off x="6583680" y="2240280"/>
            <a:ext cx="822960" cy="365760"/>
          </a:xfrm>
          <a:prstGeom prst="roundRect">
            <a:avLst>
              <a:gd fmla="val 16667" name="adj"/>
            </a:avLst>
          </a:prstGeom>
          <a:solidFill>
            <a:srgbClr val="FDF0EF"/>
          </a:solidFill>
          <a:ln cap="flat" cmpd="sng" w="12700">
            <a:solidFill>
              <a:srgbClr val="C0392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C0392B"/>
                </a:solidFill>
                <a:latin typeface="Calibri"/>
                <a:ea typeface="Calibri"/>
                <a:cs typeface="Calibri"/>
                <a:sym typeface="Calibri"/>
              </a:rPr>
              <a:t>SERIAL</a:t>
            </a:r>
            <a:endParaRPr/>
          </a:p>
        </p:txBody>
      </p:sp>
      <p:cxnSp>
        <p:nvCxnSpPr>
          <p:cNvPr id="158" name="Google Shape;158;p4"/>
          <p:cNvCxnSpPr/>
          <p:nvPr/>
        </p:nvCxnSpPr>
        <p:spPr>
          <a:xfrm>
            <a:off x="6400800" y="2423160"/>
            <a:ext cx="182880" cy="0"/>
          </a:xfrm>
          <a:prstGeom prst="straightConnector1">
            <a:avLst/>
          </a:prstGeom>
          <a:noFill/>
          <a:ln cap="flat" cmpd="sng" w="25400">
            <a:solidFill>
              <a:srgbClr val="C0392B"/>
            </a:solidFill>
            <a:prstDash val="solid"/>
            <a:round/>
            <a:headEnd len="sm" w="sm" type="none"/>
            <a:tailEnd len="sm" w="sm" type="triangle"/>
          </a:ln>
          <a:effectLst>
            <a:outerShdw blurRad="40000" rotWithShape="0" dir="5400000" dist="20000">
              <a:srgbClr val="000000">
                <a:alpha val="38039"/>
              </a:srgbClr>
            </a:outerShdw>
          </a:effectLst>
        </p:spPr>
      </p:cxnSp>
      <p:sp>
        <p:nvSpPr>
          <p:cNvPr id="159" name="Google Shape;159;p4"/>
          <p:cNvSpPr/>
          <p:nvPr/>
        </p:nvSpPr>
        <p:spPr>
          <a:xfrm>
            <a:off x="7589520" y="1920240"/>
            <a:ext cx="2377440" cy="109728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E67E22"/>
                </a:solidFill>
                <a:latin typeface="Calibri"/>
                <a:ea typeface="Calibri"/>
                <a:cs typeface="Calibri"/>
                <a:sym typeface="Calibri"/>
              </a:rPr>
              <a:t>Step 2: Inventory</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REST API  |  200–550ms</a:t>
            </a:r>
            <a:endParaRPr/>
          </a:p>
          <a:p>
            <a:pPr indent="0" lvl="0" marL="0" marR="0" rtl="0" algn="ctr">
              <a:spcBef>
                <a:spcPts val="400"/>
              </a:spcBef>
              <a:spcAft>
                <a:spcPts val="0"/>
              </a:spcAft>
              <a:buNone/>
            </a:pPr>
            <a:r>
              <a:rPr b="0" i="0" lang="en-US" sz="1000" u="none" cap="none" strike="noStrike">
                <a:solidFill>
                  <a:srgbClr val="E67E22"/>
                </a:solidFill>
                <a:latin typeface="Calibri"/>
                <a:ea typeface="Calibri"/>
                <a:cs typeface="Calibri"/>
                <a:sym typeface="Calibri"/>
              </a:rPr>
              <a:t>Cache: 5.6%  |  Degrading ⚠</a:t>
            </a:r>
            <a:endParaRPr/>
          </a:p>
        </p:txBody>
      </p:sp>
      <p:cxnSp>
        <p:nvCxnSpPr>
          <p:cNvPr id="160" name="Google Shape;160;p4"/>
          <p:cNvCxnSpPr/>
          <p:nvPr/>
        </p:nvCxnSpPr>
        <p:spPr>
          <a:xfrm>
            <a:off x="7406640" y="2423160"/>
            <a:ext cx="182880" cy="0"/>
          </a:xfrm>
          <a:prstGeom prst="straightConnector1">
            <a:avLst/>
          </a:prstGeom>
          <a:noFill/>
          <a:ln cap="flat" cmpd="sng" w="25400">
            <a:solidFill>
              <a:srgbClr val="C0392B"/>
            </a:solidFill>
            <a:prstDash val="solid"/>
            <a:round/>
            <a:headEnd len="sm" w="sm" type="none"/>
            <a:tailEnd len="sm" w="sm" type="triangle"/>
          </a:ln>
          <a:effectLst>
            <a:outerShdw blurRad="40000" rotWithShape="0" dir="5400000" dist="20000">
              <a:srgbClr val="000000">
                <a:alpha val="38039"/>
              </a:srgbClr>
            </a:outerShdw>
          </a:effectLst>
        </p:spPr>
      </p:cxnSp>
      <p:cxnSp>
        <p:nvCxnSpPr>
          <p:cNvPr id="161" name="Google Shape;161;p4"/>
          <p:cNvCxnSpPr/>
          <p:nvPr/>
        </p:nvCxnSpPr>
        <p:spPr>
          <a:xfrm>
            <a:off x="5303520" y="3017520"/>
            <a:ext cx="914400" cy="457200"/>
          </a:xfrm>
          <a:prstGeom prst="straightConnector1">
            <a:avLst/>
          </a:prstGeom>
          <a:noFill/>
          <a:ln cap="flat" cmpd="sng" w="19050">
            <a:solidFill>
              <a:srgbClr val="555555"/>
            </a:solidFill>
            <a:prstDash val="solid"/>
            <a:round/>
            <a:headEnd len="sm" w="sm" type="none"/>
            <a:tailEnd len="sm" w="sm" type="triangle"/>
          </a:ln>
          <a:effectLst>
            <a:outerShdw blurRad="40000" rotWithShape="0" dir="5400000" dist="20000">
              <a:srgbClr val="000000">
                <a:alpha val="38039"/>
              </a:srgbClr>
            </a:outerShdw>
          </a:effectLst>
        </p:spPr>
      </p:cxnSp>
      <p:cxnSp>
        <p:nvCxnSpPr>
          <p:cNvPr id="162" name="Google Shape;162;p4"/>
          <p:cNvCxnSpPr/>
          <p:nvPr/>
        </p:nvCxnSpPr>
        <p:spPr>
          <a:xfrm flipH="1">
            <a:off x="7863840" y="3017520"/>
            <a:ext cx="914400" cy="457200"/>
          </a:xfrm>
          <a:prstGeom prst="straightConnector1">
            <a:avLst/>
          </a:prstGeom>
          <a:noFill/>
          <a:ln cap="flat" cmpd="sng" w="19050">
            <a:solidFill>
              <a:srgbClr val="555555"/>
            </a:solidFill>
            <a:prstDash val="solid"/>
            <a:round/>
            <a:headEnd len="sm" w="sm" type="none"/>
            <a:tailEnd len="sm" w="sm" type="triangle"/>
          </a:ln>
          <a:effectLst>
            <a:outerShdw blurRad="40000" rotWithShape="0" dir="5400000" dist="20000">
              <a:srgbClr val="000000">
                <a:alpha val="38039"/>
              </a:srgbClr>
            </a:outerShdw>
          </a:effectLst>
        </p:spPr>
      </p:cxnSp>
      <p:sp>
        <p:nvSpPr>
          <p:cNvPr id="163" name="Google Shape;163;p4"/>
          <p:cNvSpPr txBox="1"/>
          <p:nvPr/>
        </p:nvSpPr>
        <p:spPr>
          <a:xfrm>
            <a:off x="5852160" y="3108960"/>
            <a:ext cx="2286000" cy="228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555555"/>
                </a:solidFill>
                <a:latin typeface="Calibri"/>
                <a:ea typeface="Calibri"/>
                <a:cs typeface="Calibri"/>
                <a:sym typeface="Calibri"/>
              </a:rPr>
              <a:t>waits for both (serial)</a:t>
            </a:r>
            <a:endParaRPr/>
          </a:p>
        </p:txBody>
      </p:sp>
      <p:sp>
        <p:nvSpPr>
          <p:cNvPr id="164" name="Google Shape;164;p4"/>
          <p:cNvSpPr/>
          <p:nvPr/>
        </p:nvSpPr>
        <p:spPr>
          <a:xfrm>
            <a:off x="5303520" y="3520440"/>
            <a:ext cx="3474720" cy="155448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C0392B"/>
                </a:solidFill>
                <a:latin typeface="Calibri"/>
                <a:ea typeface="Calibri"/>
                <a:cs typeface="Calibri"/>
                <a:sym typeface="Calibri"/>
              </a:rPr>
              <a:t>Step 3: OpenAI GPT-4o</a:t>
            </a:r>
            <a:endParaRPr/>
          </a:p>
          <a:p>
            <a:pPr indent="0" lvl="0" marL="0" marR="0" rtl="0" algn="ctr">
              <a:spcBef>
                <a:spcPts val="400"/>
              </a:spcBef>
              <a:spcAft>
                <a:spcPts val="0"/>
              </a:spcAft>
              <a:buNone/>
            </a:pPr>
            <a:r>
              <a:rPr b="1" i="0" lang="en-US" sz="1100" u="none" cap="none" strike="noStrike">
                <a:solidFill>
                  <a:srgbClr val="FF0000"/>
                </a:solidFill>
                <a:latin typeface="Calibri"/>
                <a:ea typeface="Calibri"/>
                <a:cs typeface="Calibri"/>
                <a:sym typeface="Calibri"/>
              </a:rPr>
              <a:t>750ms</a:t>
            </a:r>
            <a:r>
              <a:rPr b="0" i="0" lang="en-US" sz="1100" u="none" cap="none" strike="noStrike">
                <a:solidFill>
                  <a:srgbClr val="555555"/>
                </a:solidFill>
                <a:latin typeface="Calibri"/>
                <a:ea typeface="Calibri"/>
                <a:cs typeface="Calibri"/>
                <a:sym typeface="Calibri"/>
              </a:rPr>
              <a:t> avg  |  All traffic uses GPT-4o</a:t>
            </a:r>
            <a:endParaRPr/>
          </a:p>
          <a:p>
            <a:pPr indent="0" lvl="0" marL="0" marR="0" rtl="0" algn="l">
              <a:spcBef>
                <a:spcPts val="400"/>
              </a:spcBef>
              <a:spcAft>
                <a:spcPts val="0"/>
              </a:spcAft>
              <a:buNone/>
            </a:pPr>
            <a:r>
              <a:t/>
            </a:r>
            <a:endParaRPr b="0" i="0" sz="11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1000" u="none" cap="none" strike="noStrike">
                <a:solidFill>
                  <a:srgbClr val="C0392B"/>
                </a:solidFill>
                <a:latin typeface="Calibri"/>
                <a:ea typeface="Calibri"/>
                <a:cs typeface="Calibri"/>
                <a:sym typeface="Calibri"/>
              </a:rPr>
              <a:t>✗ No streaming     ✗ No model routing</a:t>
            </a:r>
            <a:endParaRPr/>
          </a:p>
          <a:p>
            <a:pPr indent="0" lvl="0" marL="0" marR="0" rtl="0" algn="ctr">
              <a:spcBef>
                <a:spcPts val="400"/>
              </a:spcBef>
              <a:spcAft>
                <a:spcPts val="0"/>
              </a:spcAft>
              <a:buNone/>
            </a:pPr>
            <a:r>
              <a:rPr b="1" i="0" lang="en-US" sz="1000" u="none" cap="none" strike="noStrike">
                <a:solidFill>
                  <a:srgbClr val="C0392B"/>
                </a:solidFill>
                <a:latin typeface="Calibri"/>
                <a:ea typeface="Calibri"/>
                <a:cs typeface="Calibri"/>
                <a:sym typeface="Calibri"/>
              </a:rPr>
              <a:t>✗ No prompt caching     ✗ Naive retry</a:t>
            </a:r>
            <a:endParaRPr/>
          </a:p>
        </p:txBody>
      </p:sp>
      <p:sp>
        <p:nvSpPr>
          <p:cNvPr id="165" name="Google Shape;165;p4"/>
          <p:cNvSpPr/>
          <p:nvPr/>
        </p:nvSpPr>
        <p:spPr>
          <a:xfrm>
            <a:off x="4206240" y="5303520"/>
            <a:ext cx="3474720" cy="868680"/>
          </a:xfrm>
          <a:prstGeom prst="roundRect">
            <a:avLst>
              <a:gd fmla="val 16667" name="adj"/>
            </a:avLst>
          </a:prstGeom>
          <a:solidFill>
            <a:srgbClr val="D9D9D9"/>
          </a:solidFill>
          <a:ln cap="flat" cmpd="sng" w="12700">
            <a:solidFill>
              <a:srgbClr val="C0392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00" u="none" cap="none" strike="noStrike">
                <a:solidFill>
                  <a:srgbClr val="C0392B"/>
                </a:solidFill>
                <a:latin typeface="Calibri"/>
                <a:ea typeface="Calibri"/>
                <a:cs typeface="Calibri"/>
                <a:sym typeface="Calibri"/>
              </a:rPr>
              <a:t>✗ Serial calls (retrieval→inv→OAI)     ✗ No circuit breakers</a:t>
            </a:r>
            <a:endParaRPr/>
          </a:p>
          <a:p>
            <a:pPr indent="0" lvl="0" marL="0" marR="0" rtl="0" algn="l">
              <a:spcBef>
                <a:spcPts val="400"/>
              </a:spcBef>
              <a:spcAft>
                <a:spcPts val="0"/>
              </a:spcAft>
              <a:buNone/>
            </a:pPr>
            <a:r>
              <a:rPr b="1" i="0" lang="en-US" sz="1000" u="none" cap="none" strike="noStrike">
                <a:solidFill>
                  <a:srgbClr val="C0392B"/>
                </a:solidFill>
                <a:latin typeface="Calibri"/>
                <a:ea typeface="Calibri"/>
                <a:cs typeface="Calibri"/>
                <a:sym typeface="Calibri"/>
              </a:rPr>
              <a:t>✗ No graceful degradation     ✗ No provisioned concurrency</a:t>
            </a:r>
            <a:endParaRPr/>
          </a:p>
        </p:txBody>
      </p:sp>
      <p:sp>
        <p:nvSpPr>
          <p:cNvPr id="166" name="Google Shape;166;p4"/>
          <p:cNvSpPr/>
          <p:nvPr/>
        </p:nvSpPr>
        <p:spPr>
          <a:xfrm>
            <a:off x="8961120" y="5303520"/>
            <a:ext cx="2194560" cy="868680"/>
          </a:xfrm>
          <a:prstGeom prst="roundRect">
            <a:avLst>
              <a:gd fmla="val 16667" name="adj"/>
            </a:avLst>
          </a:prstGeom>
          <a:solidFill>
            <a:srgbClr val="D9D9D9"/>
          </a:solidFill>
          <a:ln cap="flat" cmpd="sng" w="19050">
            <a:solidFill>
              <a:srgbClr val="95A5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555555"/>
                </a:solidFill>
                <a:latin typeface="Calibri"/>
                <a:ea typeface="Calibri"/>
                <a:cs typeface="Calibri"/>
                <a:sym typeface="Calibri"/>
              </a:rPr>
              <a:t>CloudWatch</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Logging only</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dashboard  ✗ No alerting</a:t>
            </a:r>
            <a:endParaRPr/>
          </a:p>
        </p:txBody>
      </p:sp>
      <p:cxnSp>
        <p:nvCxnSpPr>
          <p:cNvPr id="167" name="Google Shape;167;p4"/>
          <p:cNvCxnSpPr/>
          <p:nvPr/>
        </p:nvCxnSpPr>
        <p:spPr>
          <a:xfrm>
            <a:off x="7772400" y="5715000"/>
            <a:ext cx="1188720" cy="0"/>
          </a:xfrm>
          <a:prstGeom prst="straightConnector1">
            <a:avLst/>
          </a:prstGeom>
          <a:noFill/>
          <a:ln cap="flat" cmpd="sng" w="19050">
            <a:solidFill>
              <a:srgbClr val="95A5A6"/>
            </a:solidFill>
            <a:prstDash val="solid"/>
            <a:round/>
            <a:headEnd len="sm" w="sm" type="none"/>
            <a:tailEnd len="sm" w="sm" type="none"/>
          </a:ln>
          <a:effectLst>
            <a:outerShdw blurRad="40000" rotWithShape="0" dir="5400000" dist="20000">
              <a:srgbClr val="000000">
                <a:alpha val="38039"/>
              </a:srgbClr>
            </a:outerShdw>
          </a:effectLst>
        </p:spPr>
      </p:cxnSp>
      <p:sp>
        <p:nvSpPr>
          <p:cNvPr id="168" name="Google Shape;168;p4"/>
          <p:cNvSpPr/>
          <p:nvPr/>
        </p:nvSpPr>
        <p:spPr>
          <a:xfrm>
            <a:off x="274320" y="4663440"/>
            <a:ext cx="3383280" cy="1645920"/>
          </a:xfrm>
          <a:prstGeom prst="roundRect">
            <a:avLst>
              <a:gd fmla="val 16667" name="adj"/>
            </a:avLst>
          </a:prstGeom>
          <a:solidFill>
            <a:srgbClr val="F4F6F9"/>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00" u="none" cap="none" strike="noStrike">
                <a:solidFill>
                  <a:srgbClr val="0F3460"/>
                </a:solidFill>
                <a:latin typeface="Calibri"/>
                <a:ea typeface="Calibri"/>
                <a:cs typeface="Calibri"/>
                <a:sym typeface="Calibri"/>
              </a:rPr>
              <a:t>Sample Trace: req_5048bf7b539b</a:t>
            </a:r>
            <a:endParaRPr/>
          </a:p>
          <a:p>
            <a:pPr indent="0" lvl="0" marL="0" marR="0" rtl="0" algn="l">
              <a:spcBef>
                <a:spcPts val="400"/>
              </a:spcBef>
              <a:spcAft>
                <a:spcPts val="0"/>
              </a:spcAft>
              <a:buNone/>
            </a:pPr>
            <a:r>
              <a:t/>
            </a:r>
            <a:endParaRPr b="1" i="0" sz="1000" u="none" cap="none" strike="noStrike">
              <a:solidFill>
                <a:srgbClr val="0F3460"/>
              </a:solidFill>
              <a:latin typeface="Calibri"/>
              <a:ea typeface="Calibri"/>
              <a:cs typeface="Calibri"/>
              <a:sym typeface="Calibri"/>
            </a:endParaRPr>
          </a:p>
          <a:p>
            <a:pPr indent="0" lvl="0" marL="0" marR="0" rtl="0" algn="l">
              <a:spcBef>
                <a:spcPts val="400"/>
              </a:spcBef>
              <a:spcAft>
                <a:spcPts val="0"/>
              </a:spcAft>
              <a:buNone/>
            </a:pPr>
            <a:r>
              <a:rPr b="0" i="0" lang="en-US" sz="900" u="none" cap="none" strike="noStrike">
                <a:solidFill>
                  <a:srgbClr val="27AE60"/>
                </a:solidFill>
                <a:latin typeface="Consolas"/>
                <a:ea typeface="Consolas"/>
                <a:cs typeface="Consolas"/>
                <a:sym typeface="Consolas"/>
              </a:rPr>
              <a:t>Retrieval:    ██              40ms</a:t>
            </a:r>
            <a:endParaRPr/>
          </a:p>
          <a:p>
            <a:pPr indent="0" lvl="0" marL="0" marR="0" rtl="0" algn="l">
              <a:spcBef>
                <a:spcPts val="400"/>
              </a:spcBef>
              <a:spcAft>
                <a:spcPts val="0"/>
              </a:spcAft>
              <a:buNone/>
            </a:pPr>
            <a:r>
              <a:rPr b="0" i="0" lang="en-US" sz="900" u="none" cap="none" strike="noStrike">
                <a:solidFill>
                  <a:srgbClr val="E67E22"/>
                </a:solidFill>
                <a:latin typeface="Consolas"/>
                <a:ea typeface="Consolas"/>
                <a:cs typeface="Consolas"/>
                <a:sym typeface="Consolas"/>
              </a:rPr>
              <a:t>Inventory:        ██████      143ms (waits)</a:t>
            </a:r>
            <a:endParaRPr/>
          </a:p>
          <a:p>
            <a:pPr indent="0" lvl="0" marL="0" marR="0" rtl="0" algn="l">
              <a:spcBef>
                <a:spcPts val="400"/>
              </a:spcBef>
              <a:spcAft>
                <a:spcPts val="0"/>
              </a:spcAft>
              <a:buNone/>
            </a:pPr>
            <a:r>
              <a:rPr b="0" i="0" lang="en-US" sz="900" u="none" cap="none" strike="noStrike">
                <a:solidFill>
                  <a:srgbClr val="C0392B"/>
                </a:solidFill>
                <a:latin typeface="Consolas"/>
                <a:ea typeface="Consolas"/>
                <a:cs typeface="Consolas"/>
                <a:sym typeface="Consolas"/>
              </a:rPr>
              <a:t>OpenAI:                █████████████  554ms</a:t>
            </a:r>
            <a:endParaRPr/>
          </a:p>
          <a:p>
            <a:pPr indent="0" lvl="0" marL="0" marR="0" rtl="0" algn="l">
              <a:spcBef>
                <a:spcPts val="400"/>
              </a:spcBef>
              <a:spcAft>
                <a:spcPts val="0"/>
              </a:spcAft>
              <a:buNone/>
            </a:pPr>
            <a:r>
              <a:t/>
            </a:r>
            <a:endParaRPr b="0" i="0" sz="900" u="none" cap="none" strike="noStrike">
              <a:solidFill>
                <a:srgbClr val="C0392B"/>
              </a:solidFill>
              <a:latin typeface="Consolas"/>
              <a:ea typeface="Consolas"/>
              <a:cs typeface="Consolas"/>
              <a:sym typeface="Consolas"/>
            </a:endParaRPr>
          </a:p>
          <a:p>
            <a:pPr indent="0" lvl="0" marL="0" marR="0" rtl="0" algn="l">
              <a:spcBef>
                <a:spcPts val="400"/>
              </a:spcBef>
              <a:spcAft>
                <a:spcPts val="0"/>
              </a:spcAft>
              <a:buNone/>
            </a:pPr>
            <a:r>
              <a:rPr b="1" i="0" lang="en-US" sz="1000" u="none" cap="none" strike="noStrike">
                <a:solidFill>
                  <a:srgbClr val="0F3460"/>
                </a:solidFill>
                <a:latin typeface="Calibri"/>
                <a:ea typeface="Calibri"/>
                <a:cs typeface="Calibri"/>
                <a:sym typeface="Calibri"/>
              </a:rPr>
              <a:t>Total: 793ms  |  Wasted: 40–70ms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5"/>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5"/>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Two Critical Problems</a:t>
            </a:r>
            <a:endParaRPr/>
          </a:p>
        </p:txBody>
      </p:sp>
      <p:sp>
        <p:nvSpPr>
          <p:cNvPr id="176" name="Google Shape;176;p5"/>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Provably Independent — Different Root Causes, Different Fixes</a:t>
            </a:r>
            <a:endParaRPr/>
          </a:p>
        </p:txBody>
      </p:sp>
      <p:sp>
        <p:nvSpPr>
          <p:cNvPr id="177" name="Google Shape;177;p5"/>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5"/>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5/10</a:t>
            </a:r>
            <a:endParaRPr/>
          </a:p>
        </p:txBody>
      </p:sp>
      <p:sp>
        <p:nvSpPr>
          <p:cNvPr id="179" name="Google Shape;179;p5"/>
          <p:cNvSpPr/>
          <p:nvPr/>
        </p:nvSpPr>
        <p:spPr>
          <a:xfrm>
            <a:off x="170809" y="1356327"/>
            <a:ext cx="5487000" cy="5044500"/>
          </a:xfrm>
          <a:prstGeom prst="roundRect">
            <a:avLst>
              <a:gd fmla="val 16667" name="adj"/>
            </a:avLst>
          </a:prstGeom>
          <a:solidFill>
            <a:srgbClr val="FFFFFF"/>
          </a:solidFill>
          <a:ln cap="flat" cmpd="sng" w="9525">
            <a:solidFill>
              <a:schemeClr val="dk1"/>
            </a:solidFill>
            <a:prstDash val="solid"/>
            <a:round/>
            <a:headEnd len="sm" w="sm" type="none"/>
            <a:tailEnd len="sm" w="sm" type="none"/>
          </a:ln>
          <a:effectLst>
            <a:outerShdw blurRad="38714" rotWithShape="0" dir="5400000" dist="22260">
              <a:srgbClr val="000000">
                <a:alpha val="34901"/>
              </a:srgbClr>
            </a:outerShdw>
          </a:effectLst>
        </p:spPr>
        <p:txBody>
          <a:bodyPr anchorCtr="0" anchor="ctr" bIns="44225" lIns="88475" spcFirstLastPara="1" rIns="88475" wrap="square" tIns="44225">
            <a:noAutofit/>
          </a:bodyPr>
          <a:lstStyle/>
          <a:p>
            <a:pPr indent="0" lvl="0" marL="0" marR="0" rtl="0" algn="ctr">
              <a:spcBef>
                <a:spcPts val="0"/>
              </a:spcBef>
              <a:spcAft>
                <a:spcPts val="0"/>
              </a:spcAft>
              <a:buNone/>
            </a:pPr>
            <a:r>
              <a:t/>
            </a:r>
            <a:endParaRPr b="0" i="0" sz="1742" u="none" cap="none" strike="noStrike">
              <a:solidFill>
                <a:schemeClr val="dk1"/>
              </a:solidFill>
              <a:latin typeface="Calibri"/>
              <a:ea typeface="Calibri"/>
              <a:cs typeface="Calibri"/>
              <a:sym typeface="Calibri"/>
            </a:endParaRPr>
          </a:p>
        </p:txBody>
      </p:sp>
      <p:sp>
        <p:nvSpPr>
          <p:cNvPr id="180" name="Google Shape;180;p5"/>
          <p:cNvSpPr txBox="1"/>
          <p:nvPr/>
        </p:nvSpPr>
        <p:spPr>
          <a:xfrm>
            <a:off x="542839" y="1530149"/>
            <a:ext cx="5133000" cy="4170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1" i="0" lang="en-US" sz="2129" u="none" cap="none" strike="noStrike">
                <a:solidFill>
                  <a:srgbClr val="C0392B"/>
                </a:solidFill>
                <a:latin typeface="Calibri"/>
                <a:ea typeface="Calibri"/>
                <a:cs typeface="Calibri"/>
                <a:sym typeface="Calibri"/>
              </a:rPr>
              <a:t>Problem 1: Prompt Token Accumulation</a:t>
            </a:r>
            <a:endParaRPr sz="1742"/>
          </a:p>
        </p:txBody>
      </p:sp>
      <p:sp>
        <p:nvSpPr>
          <p:cNvPr id="181" name="Google Shape;181;p5"/>
          <p:cNvSpPr/>
          <p:nvPr/>
        </p:nvSpPr>
        <p:spPr>
          <a:xfrm>
            <a:off x="2339057" y="1048350"/>
            <a:ext cx="1150500" cy="265500"/>
          </a:xfrm>
          <a:prstGeom prst="roundRect">
            <a:avLst>
              <a:gd fmla="val 16667" name="adj"/>
            </a:avLst>
          </a:prstGeom>
          <a:solidFill>
            <a:srgbClr val="C0392B"/>
          </a:solidFill>
          <a:ln>
            <a:noFill/>
          </a:ln>
          <a:effectLst>
            <a:outerShdw blurRad="38714" rotWithShape="0" dir="5400000" dist="22260">
              <a:srgbClr val="000000">
                <a:alpha val="34901"/>
              </a:srgbClr>
            </a:outerShdw>
          </a:effectLst>
        </p:spPr>
        <p:txBody>
          <a:bodyPr anchorCtr="0" anchor="ctr" bIns="44225" lIns="88475" spcFirstLastPara="1" rIns="88475" wrap="square" tIns="44225">
            <a:noAutofit/>
          </a:bodyPr>
          <a:lstStyle/>
          <a:p>
            <a:pPr indent="0" lvl="0" marL="0" marR="0" rtl="0" algn="ctr">
              <a:spcBef>
                <a:spcPts val="0"/>
              </a:spcBef>
              <a:spcAft>
                <a:spcPts val="0"/>
              </a:spcAft>
              <a:buNone/>
            </a:pPr>
            <a:r>
              <a:rPr b="1" i="0" lang="en-US" sz="871" u="none" cap="none" strike="noStrike">
                <a:solidFill>
                  <a:srgbClr val="FFFFFF"/>
                </a:solidFill>
                <a:latin typeface="Calibri"/>
                <a:ea typeface="Calibri"/>
                <a:cs typeface="Calibri"/>
                <a:sym typeface="Calibri"/>
              </a:rPr>
              <a:t>DRIVES COST</a:t>
            </a:r>
            <a:endParaRPr sz="1354"/>
          </a:p>
        </p:txBody>
      </p:sp>
      <p:sp>
        <p:nvSpPr>
          <p:cNvPr id="182" name="Google Shape;182;p5"/>
          <p:cNvSpPr txBox="1"/>
          <p:nvPr/>
        </p:nvSpPr>
        <p:spPr>
          <a:xfrm>
            <a:off x="719838" y="2161411"/>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1" i="0" lang="en-US" sz="1451" u="none" cap="none" strike="noStrike">
                <a:solidFill>
                  <a:srgbClr val="1A1A2E"/>
                </a:solidFill>
                <a:latin typeface="Calibri"/>
                <a:ea typeface="Calibri"/>
                <a:cs typeface="Calibri"/>
                <a:sym typeface="Calibri"/>
              </a:rPr>
              <a:t>871 → 1,981 avg prompt tokens in 14 days (+127%)</a:t>
            </a:r>
            <a:endParaRPr sz="1742"/>
          </a:p>
        </p:txBody>
      </p:sp>
      <p:sp>
        <p:nvSpPr>
          <p:cNvPr id="183" name="Google Shape;183;p5"/>
          <p:cNvSpPr txBox="1"/>
          <p:nvPr/>
        </p:nvSpPr>
        <p:spPr>
          <a:xfrm>
            <a:off x="719838" y="2438958"/>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1" i="0" lang="en-US" sz="1451" u="none" cap="none" strike="noStrike">
                <a:solidFill>
                  <a:srgbClr val="1A1A2E"/>
                </a:solidFill>
                <a:latin typeface="Calibri"/>
                <a:ea typeface="Calibri"/>
                <a:cs typeface="Calibri"/>
                <a:sym typeface="Calibri"/>
              </a:rPr>
              <a:t>+85.89 tokens/day, linear growth (R² = 0.9997)</a:t>
            </a:r>
            <a:endParaRPr sz="1742"/>
          </a:p>
        </p:txBody>
      </p:sp>
      <p:sp>
        <p:nvSpPr>
          <p:cNvPr id="184" name="Google Shape;184;p5"/>
          <p:cNvSpPr txBox="1"/>
          <p:nvPr/>
        </p:nvSpPr>
        <p:spPr>
          <a:xfrm>
            <a:off x="719838" y="2844603"/>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1" i="0" lang="en-US" sz="1451" u="none" cap="none" strike="noStrike">
                <a:solidFill>
                  <a:srgbClr val="1A1A2E"/>
                </a:solidFill>
                <a:latin typeface="Calibri"/>
                <a:ea typeface="Calibri"/>
                <a:cs typeface="Calibri"/>
                <a:sym typeface="Calibri"/>
              </a:rPr>
              <a:t>Why we know it's the system prompt:</a:t>
            </a:r>
            <a:endParaRPr sz="1742"/>
          </a:p>
        </p:txBody>
      </p:sp>
      <p:sp>
        <p:nvSpPr>
          <p:cNvPr id="185" name="Google Shape;185;p5"/>
          <p:cNvSpPr txBox="1"/>
          <p:nvPr/>
        </p:nvSpPr>
        <p:spPr>
          <a:xfrm>
            <a:off x="719838" y="3122150"/>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 Growth identical across all 3 routes (+85/86/88 per day)</a:t>
            </a:r>
            <a:endParaRPr sz="1742"/>
          </a:p>
        </p:txBody>
      </p:sp>
      <p:sp>
        <p:nvSpPr>
          <p:cNvPr id="186" name="Google Shape;186;p5"/>
          <p:cNvSpPr txBox="1"/>
          <p:nvPr/>
        </p:nvSpPr>
        <p:spPr>
          <a:xfrm>
            <a:off x="719838" y="3399697"/>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 policy_only doesn't call inventory → shared infrastructure</a:t>
            </a:r>
            <a:endParaRPr sz="1742"/>
          </a:p>
        </p:txBody>
      </p:sp>
      <p:sp>
        <p:nvSpPr>
          <p:cNvPr id="187" name="Google Shape;187;p5"/>
          <p:cNvSpPr txBox="1"/>
          <p:nvPr/>
        </p:nvSpPr>
        <p:spPr>
          <a:xfrm>
            <a:off x="719838" y="3677244"/>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 Retrieval payload is flat (~1,155 bytes, R² = 0.02)</a:t>
            </a:r>
            <a:endParaRPr sz="1742"/>
          </a:p>
        </p:txBody>
      </p:sp>
      <p:sp>
        <p:nvSpPr>
          <p:cNvPr id="188" name="Google Shape;188;p5"/>
          <p:cNvSpPr txBox="1"/>
          <p:nvPr/>
        </p:nvSpPr>
        <p:spPr>
          <a:xfrm>
            <a:off x="719838" y="3954790"/>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 Every user is unique (1,200 users, 1,200 requests)</a:t>
            </a:r>
            <a:endParaRPr sz="1742"/>
          </a:p>
        </p:txBody>
      </p:sp>
      <p:sp>
        <p:nvSpPr>
          <p:cNvPr id="189" name="Google Shape;189;p5"/>
          <p:cNvSpPr txBox="1"/>
          <p:nvPr/>
        </p:nvSpPr>
        <p:spPr>
          <a:xfrm>
            <a:off x="719838" y="4232337"/>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 Route mix proportions don't trend</a:t>
            </a:r>
            <a:endParaRPr sz="1742"/>
          </a:p>
        </p:txBody>
      </p:sp>
      <p:sp>
        <p:nvSpPr>
          <p:cNvPr id="190" name="Google Shape;190;p5"/>
          <p:cNvSpPr txBox="1"/>
          <p:nvPr/>
        </p:nvSpPr>
        <p:spPr>
          <a:xfrm>
            <a:off x="719838" y="4637983"/>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1" i="0" lang="en-US" sz="1451" u="none" cap="none" strike="noStrike">
                <a:solidFill>
                  <a:srgbClr val="1A1A2E"/>
                </a:solidFill>
                <a:latin typeface="Calibri"/>
                <a:ea typeface="Calibri"/>
                <a:cs typeface="Calibri"/>
                <a:sym typeface="Calibri"/>
              </a:rPr>
              <a:t>100% of cost growth from input token inflation</a:t>
            </a:r>
            <a:endParaRPr sz="1742"/>
          </a:p>
        </p:txBody>
      </p:sp>
      <p:sp>
        <p:nvSpPr>
          <p:cNvPr id="191" name="Google Shape;191;p5"/>
          <p:cNvSpPr txBox="1"/>
          <p:nvPr/>
        </p:nvSpPr>
        <p:spPr>
          <a:xfrm>
            <a:off x="719838" y="4915530"/>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$1,121 of $1,122 cost increase → input tokens</a:t>
            </a:r>
            <a:endParaRPr sz="1742"/>
          </a:p>
        </p:txBody>
      </p:sp>
      <p:sp>
        <p:nvSpPr>
          <p:cNvPr id="192" name="Google Shape;192;p5"/>
          <p:cNvSpPr txBox="1"/>
          <p:nvPr/>
        </p:nvSpPr>
        <p:spPr>
          <a:xfrm>
            <a:off x="719838" y="5321175"/>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Likely cause: automated process appending content</a:t>
            </a:r>
            <a:endParaRPr sz="1742"/>
          </a:p>
        </p:txBody>
      </p:sp>
      <p:sp>
        <p:nvSpPr>
          <p:cNvPr id="193" name="Google Shape;193;p5"/>
          <p:cNvSpPr txBox="1"/>
          <p:nvPr/>
        </p:nvSpPr>
        <p:spPr>
          <a:xfrm>
            <a:off x="719838" y="5598722"/>
            <a:ext cx="4867500" cy="312900"/>
          </a:xfrm>
          <a:prstGeom prst="rect">
            <a:avLst/>
          </a:prstGeom>
          <a:noFill/>
          <a:ln>
            <a:noFill/>
          </a:ln>
        </p:spPr>
        <p:txBody>
          <a:bodyPr anchorCtr="0" anchor="t" bIns="44225" lIns="88475" spcFirstLastPara="1" rIns="88475" wrap="square" tIns="44225">
            <a:spAutoFit/>
          </a:bodyPr>
          <a:lstStyle/>
          <a:p>
            <a:pPr indent="0" lvl="0" marL="0" marR="0" rtl="0" algn="l">
              <a:spcBef>
                <a:spcPts val="0"/>
              </a:spcBef>
              <a:spcAft>
                <a:spcPts val="0"/>
              </a:spcAft>
              <a:buNone/>
            </a:pPr>
            <a:r>
              <a:rPr b="0" i="0" lang="en-US" sz="1451" u="none" cap="none" strike="noStrike">
                <a:solidFill>
                  <a:srgbClr val="555555"/>
                </a:solidFill>
                <a:latin typeface="Calibri"/>
                <a:ea typeface="Calibri"/>
                <a:cs typeface="Calibri"/>
                <a:sym typeface="Calibri"/>
              </a:rPr>
              <a:t>to system prompt (cron, deploy, content sync)</a:t>
            </a:r>
            <a:endParaRPr sz="1742"/>
          </a:p>
        </p:txBody>
      </p:sp>
      <p:sp>
        <p:nvSpPr>
          <p:cNvPr id="194" name="Google Shape;194;p5"/>
          <p:cNvSpPr/>
          <p:nvPr/>
        </p:nvSpPr>
        <p:spPr>
          <a:xfrm>
            <a:off x="6186525" y="1356325"/>
            <a:ext cx="5700900" cy="5044500"/>
          </a:xfrm>
          <a:prstGeom prst="roundRect">
            <a:avLst>
              <a:gd fmla="val 16667" name="adj"/>
            </a:avLst>
          </a:prstGeom>
          <a:solidFill>
            <a:srgbClr val="FFFFFF"/>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5"/>
          <p:cNvSpPr txBox="1"/>
          <p:nvPr/>
        </p:nvSpPr>
        <p:spPr>
          <a:xfrm>
            <a:off x="6778641" y="1456486"/>
            <a:ext cx="5303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E67E22"/>
                </a:solidFill>
                <a:latin typeface="Calibri"/>
                <a:ea typeface="Calibri"/>
                <a:cs typeface="Calibri"/>
                <a:sym typeface="Calibri"/>
              </a:rPr>
              <a:t>Problem 2: Inventory Service Degradation</a:t>
            </a:r>
            <a:endParaRPr sz="1600"/>
          </a:p>
        </p:txBody>
      </p:sp>
      <p:sp>
        <p:nvSpPr>
          <p:cNvPr id="196" name="Google Shape;196;p5"/>
          <p:cNvSpPr/>
          <p:nvPr/>
        </p:nvSpPr>
        <p:spPr>
          <a:xfrm>
            <a:off x="8481505" y="1043981"/>
            <a:ext cx="1371600" cy="27420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Calibri"/>
                <a:ea typeface="Calibri"/>
                <a:cs typeface="Calibri"/>
                <a:sym typeface="Calibri"/>
              </a:rPr>
              <a:t>DRIVES LATENCY</a:t>
            </a:r>
            <a:endParaRPr/>
          </a:p>
        </p:txBody>
      </p:sp>
      <p:graphicFrame>
        <p:nvGraphicFramePr>
          <p:cNvPr id="197" name="Google Shape;197;p5"/>
          <p:cNvGraphicFramePr/>
          <p:nvPr/>
        </p:nvGraphicFramePr>
        <p:xfrm>
          <a:off x="6652694" y="1883838"/>
          <a:ext cx="3000000" cy="3000000"/>
        </p:xfrm>
        <a:graphic>
          <a:graphicData uri="http://schemas.openxmlformats.org/drawingml/2006/table">
            <a:tbl>
              <a:tblPr bandRow="1" firstRow="1">
                <a:noFill/>
                <a:tableStyleId>{CEE88E17-01CA-4FDC-A704-CEA885DBC39A}</a:tableStyleId>
              </a:tblPr>
              <a:tblGrid>
                <a:gridCol w="1257300"/>
                <a:gridCol w="1257300"/>
                <a:gridCol w="1257300"/>
                <a:gridCol w="1257300"/>
              </a:tblGrid>
              <a:tr h="268825">
                <a:tc>
                  <a:txBody>
                    <a:bodyPr/>
                    <a:lstStyle/>
                    <a:p>
                      <a:pPr indent="0" lvl="0" marL="0" marR="0" rtl="0" algn="l">
                        <a:spcBef>
                          <a:spcPts val="0"/>
                        </a:spcBef>
                        <a:spcAft>
                          <a:spcPts val="0"/>
                        </a:spcAft>
                        <a:buNone/>
                      </a:pPr>
                      <a:r>
                        <a:rPr b="1" lang="en-US" sz="1300" u="none" cap="none" strike="noStrike">
                          <a:solidFill>
                            <a:srgbClr val="FFFFFF"/>
                          </a:solidFill>
                          <a:latin typeface="Calibri"/>
                          <a:ea typeface="Calibri"/>
                          <a:cs typeface="Calibri"/>
                          <a:sym typeface="Calibri"/>
                        </a:rPr>
                        <a:t>Metric</a:t>
                      </a:r>
                      <a:endParaRPr sz="1700"/>
                    </a:p>
                  </a:txBody>
                  <a:tcPr marT="45725" marB="45725" marR="91450" marL="91450">
                    <a:solidFill>
                      <a:srgbClr val="E67E22"/>
                    </a:solidFill>
                  </a:tcPr>
                </a:tc>
                <a:tc>
                  <a:txBody>
                    <a:bodyPr/>
                    <a:lstStyle/>
                    <a:p>
                      <a:pPr indent="0" lvl="0" marL="0" marR="0" rtl="0" algn="l">
                        <a:spcBef>
                          <a:spcPts val="0"/>
                        </a:spcBef>
                        <a:spcAft>
                          <a:spcPts val="0"/>
                        </a:spcAft>
                        <a:buNone/>
                      </a:pPr>
                      <a:r>
                        <a:rPr b="1" lang="en-US" sz="1300" u="none" cap="none" strike="noStrike">
                          <a:solidFill>
                            <a:srgbClr val="FFFFFF"/>
                          </a:solidFill>
                          <a:latin typeface="Calibri"/>
                          <a:ea typeface="Calibri"/>
                          <a:cs typeface="Calibri"/>
                          <a:sym typeface="Calibri"/>
                        </a:rPr>
                        <a:t>Jun 1–8</a:t>
                      </a:r>
                      <a:endParaRPr sz="1700"/>
                    </a:p>
                  </a:txBody>
                  <a:tcPr marT="45725" marB="45725" marR="91450" marL="91450">
                    <a:solidFill>
                      <a:srgbClr val="E67E22"/>
                    </a:solidFill>
                  </a:tcPr>
                </a:tc>
                <a:tc>
                  <a:txBody>
                    <a:bodyPr/>
                    <a:lstStyle/>
                    <a:p>
                      <a:pPr indent="0" lvl="0" marL="0" marR="0" rtl="0" algn="l">
                        <a:spcBef>
                          <a:spcPts val="0"/>
                        </a:spcBef>
                        <a:spcAft>
                          <a:spcPts val="0"/>
                        </a:spcAft>
                        <a:buNone/>
                      </a:pPr>
                      <a:r>
                        <a:rPr b="1" lang="en-US" sz="1300" u="none" cap="none" strike="noStrike">
                          <a:solidFill>
                            <a:srgbClr val="FFFFFF"/>
                          </a:solidFill>
                          <a:latin typeface="Calibri"/>
                          <a:ea typeface="Calibri"/>
                          <a:cs typeface="Calibri"/>
                          <a:sym typeface="Calibri"/>
                        </a:rPr>
                        <a:t>Jun 9–14</a:t>
                      </a:r>
                      <a:endParaRPr sz="1700"/>
                    </a:p>
                  </a:txBody>
                  <a:tcPr marT="45725" marB="45725" marR="91450" marL="91450">
                    <a:solidFill>
                      <a:srgbClr val="E67E22"/>
                    </a:solidFill>
                  </a:tcPr>
                </a:tc>
                <a:tc>
                  <a:txBody>
                    <a:bodyPr/>
                    <a:lstStyle/>
                    <a:p>
                      <a:pPr indent="0" lvl="0" marL="0" marR="0" rtl="0" algn="l">
                        <a:spcBef>
                          <a:spcPts val="0"/>
                        </a:spcBef>
                        <a:spcAft>
                          <a:spcPts val="0"/>
                        </a:spcAft>
                        <a:buNone/>
                      </a:pPr>
                      <a:r>
                        <a:rPr b="1" lang="en-US" sz="1300" u="none" cap="none" strike="noStrike">
                          <a:solidFill>
                            <a:srgbClr val="FFFFFF"/>
                          </a:solidFill>
                          <a:latin typeface="Calibri"/>
                          <a:ea typeface="Calibri"/>
                          <a:cs typeface="Calibri"/>
                          <a:sym typeface="Calibri"/>
                        </a:rPr>
                        <a:t>Change</a:t>
                      </a:r>
                      <a:endParaRPr sz="1700"/>
                    </a:p>
                  </a:txBody>
                  <a:tcPr marT="45725" marB="45725" marR="91450" marL="91450">
                    <a:solidFill>
                      <a:srgbClr val="E67E22"/>
                    </a:solidFill>
                  </a:tcPr>
                </a:tc>
              </a:tr>
              <a:tr h="268825">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Mean latency</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197ms</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520ms</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1" lang="en-US" sz="1200" u="none" cap="none" strike="noStrike">
                          <a:solidFill>
                            <a:srgbClr val="C0392B"/>
                          </a:solidFill>
                          <a:latin typeface="Calibri"/>
                          <a:ea typeface="Calibri"/>
                          <a:cs typeface="Calibri"/>
                          <a:sym typeface="Calibri"/>
                        </a:rPr>
                        <a:t>+164% (2.6×)</a:t>
                      </a:r>
                      <a:endParaRPr sz="1600"/>
                    </a:p>
                  </a:txBody>
                  <a:tcPr marT="45725" marB="45725" marR="91450" marL="91450">
                    <a:solidFill>
                      <a:srgbClr val="F4F6F9"/>
                    </a:solidFill>
                  </a:tcPr>
                </a:tc>
              </a:tr>
              <a:tr h="268825">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p95 latency</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313ms</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897ms</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1" lang="en-US" sz="1200" u="none" cap="none" strike="noStrike">
                          <a:solidFill>
                            <a:srgbClr val="C0392B"/>
                          </a:solidFill>
                          <a:latin typeface="Calibri"/>
                          <a:ea typeface="Calibri"/>
                          <a:cs typeface="Calibri"/>
                          <a:sym typeface="Calibri"/>
                        </a:rPr>
                        <a:t>+187%</a:t>
                      </a:r>
                      <a:endParaRPr sz="1600"/>
                    </a:p>
                  </a:txBody>
                  <a:tcPr marT="45725" marB="45725" marR="91450" marL="91450">
                    <a:solidFill>
                      <a:srgbClr val="FFFFFF"/>
                    </a:solidFill>
                  </a:tcPr>
                </a:tc>
              </a:tr>
              <a:tr h="452775">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Timeout</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900ms</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1,300ms</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1" lang="en-US" sz="1200" u="none" cap="none" strike="noStrike">
                          <a:solidFill>
                            <a:srgbClr val="C0392B"/>
                          </a:solidFill>
                          <a:latin typeface="Calibri"/>
                          <a:ea typeface="Calibri"/>
                          <a:cs typeface="Calibri"/>
                          <a:sym typeface="Calibri"/>
                        </a:rPr>
                        <a:t>Raised overnight</a:t>
                      </a:r>
                      <a:endParaRPr sz="1600"/>
                    </a:p>
                  </a:txBody>
                  <a:tcPr marT="45725" marB="45725" marR="91450" marL="91450">
                    <a:solidFill>
                      <a:srgbClr val="F4F6F9"/>
                    </a:solidFill>
                  </a:tcPr>
                </a:tc>
              </a:tr>
              <a:tr h="452775">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Errors</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0</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14</a:t>
                      </a:r>
                      <a:endParaRPr sz="1700"/>
                    </a:p>
                  </a:txBody>
                  <a:tcPr marT="45725" marB="45725" marR="91450" marL="91450">
                    <a:solidFill>
                      <a:srgbClr val="FFFFFF"/>
                    </a:solidFill>
                  </a:tcPr>
                </a:tc>
                <a:tc>
                  <a:txBody>
                    <a:bodyPr/>
                    <a:lstStyle/>
                    <a:p>
                      <a:pPr indent="0" lvl="0" marL="0" marR="0" rtl="0" algn="l">
                        <a:spcBef>
                          <a:spcPts val="0"/>
                        </a:spcBef>
                        <a:spcAft>
                          <a:spcPts val="0"/>
                        </a:spcAft>
                        <a:buNone/>
                      </a:pPr>
                      <a:r>
                        <a:rPr b="1" lang="en-US" sz="1200" u="none" cap="none" strike="noStrike">
                          <a:solidFill>
                            <a:srgbClr val="C0392B"/>
                          </a:solidFill>
                          <a:latin typeface="Calibri"/>
                          <a:ea typeface="Calibri"/>
                          <a:cs typeface="Calibri"/>
                          <a:sym typeface="Calibri"/>
                        </a:rPr>
                        <a:t>New failure mode</a:t>
                      </a:r>
                      <a:endParaRPr sz="1600"/>
                    </a:p>
                  </a:txBody>
                  <a:tcPr marT="45725" marB="45725" marR="91450" marL="91450">
                    <a:solidFill>
                      <a:srgbClr val="FFFFFF"/>
                    </a:solidFill>
                  </a:tcPr>
                </a:tc>
              </a:tr>
              <a:tr h="268825">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Retry rate</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3.5%</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0" lang="en-US" sz="1300" u="none" cap="none" strike="noStrike">
                          <a:solidFill>
                            <a:srgbClr val="1A1A2E"/>
                          </a:solidFill>
                          <a:latin typeface="Calibri"/>
                          <a:ea typeface="Calibri"/>
                          <a:cs typeface="Calibri"/>
                          <a:sym typeface="Calibri"/>
                        </a:rPr>
                        <a:t>12.1%</a:t>
                      </a:r>
                      <a:endParaRPr sz="1700"/>
                    </a:p>
                  </a:txBody>
                  <a:tcPr marT="45725" marB="45725" marR="91450" marL="91450">
                    <a:solidFill>
                      <a:srgbClr val="F4F6F9"/>
                    </a:solidFill>
                  </a:tcPr>
                </a:tc>
                <a:tc>
                  <a:txBody>
                    <a:bodyPr/>
                    <a:lstStyle/>
                    <a:p>
                      <a:pPr indent="0" lvl="0" marL="0" marR="0" rtl="0" algn="l">
                        <a:spcBef>
                          <a:spcPts val="0"/>
                        </a:spcBef>
                        <a:spcAft>
                          <a:spcPts val="0"/>
                        </a:spcAft>
                        <a:buNone/>
                      </a:pPr>
                      <a:r>
                        <a:rPr b="1" lang="en-US" sz="1200" u="none" cap="none" strike="noStrike">
                          <a:solidFill>
                            <a:srgbClr val="C0392B"/>
                          </a:solidFill>
                          <a:latin typeface="Calibri"/>
                          <a:ea typeface="Calibri"/>
                          <a:cs typeface="Calibri"/>
                          <a:sym typeface="Calibri"/>
                        </a:rPr>
                        <a:t>+246%</a:t>
                      </a:r>
                      <a:endParaRPr sz="1600"/>
                    </a:p>
                  </a:txBody>
                  <a:tcPr marT="45725" marB="45725" marR="91450" marL="91450">
                    <a:solidFill>
                      <a:srgbClr val="F4F6F9"/>
                    </a:solidFill>
                  </a:tcPr>
                </a:tc>
              </a:tr>
            </a:tbl>
          </a:graphicData>
        </a:graphic>
      </p:graphicFrame>
      <p:sp>
        <p:nvSpPr>
          <p:cNvPr id="198" name="Google Shape;198;p5"/>
          <p:cNvSpPr txBox="1"/>
          <p:nvPr/>
        </p:nvSpPr>
        <p:spPr>
          <a:xfrm>
            <a:off x="6835574" y="3950554"/>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1A1A2E"/>
                </a:solidFill>
                <a:latin typeface="Calibri"/>
                <a:ea typeface="Calibri"/>
                <a:cs typeface="Calibri"/>
                <a:sym typeface="Calibri"/>
              </a:rPr>
              <a:t>Not caused by increased load — volume is flat</a:t>
            </a:r>
            <a:endParaRPr sz="1700"/>
          </a:p>
        </p:txBody>
      </p:sp>
      <p:sp>
        <p:nvSpPr>
          <p:cNvPr id="199" name="Google Shape;199;p5"/>
          <p:cNvSpPr txBox="1"/>
          <p:nvPr/>
        </p:nvSpPr>
        <p:spPr>
          <a:xfrm>
            <a:off x="6835574" y="4188298"/>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555555"/>
                </a:solidFill>
                <a:latin typeface="Calibri"/>
                <a:ea typeface="Calibri"/>
                <a:cs typeface="Calibri"/>
                <a:sym typeface="Calibri"/>
              </a:rPr>
              <a:t>• 43 req/day (W1) vs 45 req/day (W2) in sample</a:t>
            </a:r>
            <a:endParaRPr sz="1700"/>
          </a:p>
        </p:txBody>
      </p:sp>
      <p:sp>
        <p:nvSpPr>
          <p:cNvPr id="200" name="Google Shape;200;p5"/>
          <p:cNvSpPr txBox="1"/>
          <p:nvPr/>
        </p:nvSpPr>
        <p:spPr>
          <a:xfrm>
            <a:off x="6835574" y="4416725"/>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1A1A2E"/>
                </a:solidFill>
                <a:latin typeface="Calibri"/>
                <a:ea typeface="Calibri"/>
                <a:cs typeface="Calibri"/>
                <a:sym typeface="Calibri"/>
              </a:rPr>
              <a:t>Timeout raised reactively at 00:56 UTC June 9</a:t>
            </a:r>
            <a:endParaRPr sz="1700"/>
          </a:p>
        </p:txBody>
      </p:sp>
      <p:sp>
        <p:nvSpPr>
          <p:cNvPr id="201" name="Google Shape;201;p5"/>
          <p:cNvSpPr txBox="1"/>
          <p:nvPr/>
        </p:nvSpPr>
        <p:spPr>
          <a:xfrm>
            <a:off x="6835574" y="4654469"/>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555555"/>
                </a:solidFill>
                <a:latin typeface="Calibri"/>
                <a:ea typeface="Calibri"/>
                <a:cs typeface="Calibri"/>
                <a:sym typeface="Calibri"/>
              </a:rPr>
              <a:t>• 9 requests still timed out (504)</a:t>
            </a:r>
            <a:endParaRPr sz="1700"/>
          </a:p>
        </p:txBody>
      </p:sp>
      <p:sp>
        <p:nvSpPr>
          <p:cNvPr id="202" name="Google Shape;202;p5"/>
          <p:cNvSpPr txBox="1"/>
          <p:nvPr/>
        </p:nvSpPr>
        <p:spPr>
          <a:xfrm>
            <a:off x="6835574" y="4892213"/>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555555"/>
                </a:solidFill>
                <a:latin typeface="Calibri"/>
                <a:ea typeface="Calibri"/>
                <a:cs typeface="Calibri"/>
                <a:sym typeface="Calibri"/>
              </a:rPr>
              <a:t>• 5 returned HTTP 500 — new failure mode (June 11+)</a:t>
            </a:r>
            <a:endParaRPr sz="1700"/>
          </a:p>
        </p:txBody>
      </p:sp>
      <p:sp>
        <p:nvSpPr>
          <p:cNvPr id="203" name="Google Shape;203;p5"/>
          <p:cNvSpPr txBox="1"/>
          <p:nvPr/>
        </p:nvSpPr>
        <p:spPr>
          <a:xfrm>
            <a:off x="6835574" y="5221397"/>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1A1A2E"/>
                </a:solidFill>
                <a:latin typeface="Calibri"/>
                <a:ea typeface="Calibri"/>
                <a:cs typeface="Calibri"/>
                <a:sym typeface="Calibri"/>
              </a:rPr>
              <a:t>Policy-only traffic: zero latency change</a:t>
            </a:r>
            <a:endParaRPr sz="1700"/>
          </a:p>
        </p:txBody>
      </p:sp>
      <p:sp>
        <p:nvSpPr>
          <p:cNvPr id="204" name="Google Shape;204;p5"/>
          <p:cNvSpPr txBox="1"/>
          <p:nvPr/>
        </p:nvSpPr>
        <p:spPr>
          <a:xfrm>
            <a:off x="6835574" y="5459141"/>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555555"/>
                </a:solidFill>
                <a:latin typeface="Calibri"/>
                <a:ea typeface="Calibri"/>
                <a:cs typeface="Calibri"/>
                <a:sym typeface="Calibri"/>
              </a:rPr>
              <a:t>→ Confirms inventory is sole cause</a:t>
            </a:r>
            <a:endParaRPr sz="1700"/>
          </a:p>
        </p:txBody>
      </p:sp>
      <p:sp>
        <p:nvSpPr>
          <p:cNvPr id="205" name="Google Shape;205;p5"/>
          <p:cNvSpPr txBox="1"/>
          <p:nvPr/>
        </p:nvSpPr>
        <p:spPr>
          <a:xfrm>
            <a:off x="6835574" y="5788325"/>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u="none" cap="none" strike="noStrike">
                <a:solidFill>
                  <a:srgbClr val="1A1A2E"/>
                </a:solidFill>
                <a:latin typeface="Calibri"/>
                <a:ea typeface="Calibri"/>
                <a:cs typeface="Calibri"/>
                <a:sym typeface="Calibri"/>
              </a:rPr>
              <a:t>SLA impact: sub-1s rate dropped 55.7% → 35.4%</a:t>
            </a:r>
            <a:endParaRPr sz="1700"/>
          </a:p>
        </p:txBody>
      </p:sp>
      <p:sp>
        <p:nvSpPr>
          <p:cNvPr id="206" name="Google Shape;206;p5"/>
          <p:cNvSpPr txBox="1"/>
          <p:nvPr/>
        </p:nvSpPr>
        <p:spPr>
          <a:xfrm>
            <a:off x="6835574" y="6046596"/>
            <a:ext cx="5029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555555"/>
                </a:solidFill>
                <a:latin typeface="Calibri"/>
                <a:ea typeface="Calibri"/>
                <a:cs typeface="Calibri"/>
                <a:sym typeface="Calibri"/>
              </a:rPr>
              <a:t>20-point drop entirely from inventory</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6"/>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Biggest Risks &amp; Error Analysis</a:t>
            </a:r>
            <a:endParaRPr/>
          </a:p>
        </p:txBody>
      </p:sp>
      <p:sp>
        <p:nvSpPr>
          <p:cNvPr id="214" name="Google Shape;214;p6"/>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6"/>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6/10</a:t>
            </a:r>
            <a:endParaRPr/>
          </a:p>
        </p:txBody>
      </p:sp>
      <p:sp>
        <p:nvSpPr>
          <p:cNvPr id="216" name="Google Shape;216;p6"/>
          <p:cNvSpPr/>
          <p:nvPr/>
        </p:nvSpPr>
        <p:spPr>
          <a:xfrm>
            <a:off x="365760" y="1188720"/>
            <a:ext cx="5669280" cy="2377440"/>
          </a:xfrm>
          <a:prstGeom prst="roundRect">
            <a:avLst>
              <a:gd fmla="val 16667" name="adj"/>
            </a:avLst>
          </a:prstGeom>
          <a:solidFill>
            <a:schemeClr val="lt1"/>
          </a:solidFill>
          <a:ln cap="flat" cmpd="sng" w="19050">
            <a:solidFill>
              <a:srgbClr val="88888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217" name="Google Shape;217;p6"/>
          <p:cNvSpPr txBox="1"/>
          <p:nvPr/>
        </p:nvSpPr>
        <p:spPr>
          <a:xfrm>
            <a:off x="548640" y="1234440"/>
            <a:ext cx="530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C0392B"/>
                </a:solidFill>
                <a:latin typeface="Calibri"/>
                <a:ea typeface="Calibri"/>
                <a:cs typeface="Calibri"/>
                <a:sym typeface="Calibri"/>
              </a:rPr>
              <a:t>Error Analysis  —  33 Errors / 14 Days (2.8%)</a:t>
            </a:r>
            <a:endParaRPr sz="1600"/>
          </a:p>
        </p:txBody>
      </p:sp>
      <p:sp>
        <p:nvSpPr>
          <p:cNvPr id="218" name="Google Shape;218;p6"/>
          <p:cNvSpPr txBox="1"/>
          <p:nvPr/>
        </p:nvSpPr>
        <p:spPr>
          <a:xfrm>
            <a:off x="731520" y="160020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C0392B"/>
                </a:solidFill>
                <a:latin typeface="Calibri"/>
                <a:ea typeface="Calibri"/>
                <a:cs typeface="Calibri"/>
                <a:sym typeface="Calibri"/>
              </a:rPr>
              <a:t>•  100% of errors during peak hours (11–13h, 16–18h)</a:t>
            </a:r>
            <a:endParaRPr sz="1600"/>
          </a:p>
        </p:txBody>
      </p:sp>
      <p:sp>
        <p:nvSpPr>
          <p:cNvPr id="219" name="Google Shape;219;p6"/>
          <p:cNvSpPr txBox="1"/>
          <p:nvPr/>
        </p:nvSpPr>
        <p:spPr>
          <a:xfrm>
            <a:off x="731520" y="1856232"/>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C0392B"/>
                </a:solidFill>
                <a:latin typeface="Calibri"/>
                <a:ea typeface="Calibri"/>
                <a:cs typeface="Calibri"/>
                <a:sym typeface="Calibri"/>
              </a:rPr>
              <a:t>•  Peak-hour error rate: 8.2% — 1 in 12 requests fails</a:t>
            </a:r>
            <a:endParaRPr sz="1600"/>
          </a:p>
        </p:txBody>
      </p:sp>
      <p:sp>
        <p:nvSpPr>
          <p:cNvPr id="220" name="Google Shape;220;p6"/>
          <p:cNvSpPr txBox="1"/>
          <p:nvPr/>
        </p:nvSpPr>
        <p:spPr>
          <a:xfrm>
            <a:off x="731520" y="2112264"/>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A1A2E"/>
                </a:solidFill>
                <a:latin typeface="Calibri"/>
                <a:ea typeface="Calibri"/>
                <a:cs typeface="Calibri"/>
                <a:sym typeface="Calibri"/>
              </a:rPr>
              <a:t>•  Off-peak error rate: 0.0%</a:t>
            </a:r>
            <a:endParaRPr sz="1600"/>
          </a:p>
        </p:txBody>
      </p:sp>
      <p:sp>
        <p:nvSpPr>
          <p:cNvPr id="221" name="Google Shape;221;p6"/>
          <p:cNvSpPr txBox="1"/>
          <p:nvPr/>
        </p:nvSpPr>
        <p:spPr>
          <a:xfrm>
            <a:off x="731520" y="2368296"/>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A1A2E"/>
                </a:solidFill>
                <a:latin typeface="Calibri"/>
                <a:ea typeface="Calibri"/>
                <a:cs typeface="Calibri"/>
                <a:sym typeface="Calibri"/>
              </a:rPr>
              <a:t>•  Bimodal concurrency: gap from 121–180 (two operating modes)</a:t>
            </a:r>
            <a:endParaRPr sz="1600"/>
          </a:p>
        </p:txBody>
      </p:sp>
      <p:sp>
        <p:nvSpPr>
          <p:cNvPr id="222" name="Google Shape;222;p6"/>
          <p:cNvSpPr txBox="1"/>
          <p:nvPr/>
        </p:nvSpPr>
        <p:spPr>
          <a:xfrm>
            <a:off x="731520" y="2624328"/>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A1A2E"/>
                </a:solidFill>
                <a:latin typeface="Calibri"/>
                <a:ea typeface="Calibri"/>
                <a:cs typeface="Calibri"/>
                <a:sym typeface="Calibri"/>
              </a:rPr>
              <a:t>•  Week 1 → Week 2 errors: 10 → 23 (+130%)</a:t>
            </a:r>
            <a:endParaRPr sz="1600"/>
          </a:p>
        </p:txBody>
      </p:sp>
      <p:sp>
        <p:nvSpPr>
          <p:cNvPr id="223" name="Google Shape;223;p6"/>
          <p:cNvSpPr txBox="1"/>
          <p:nvPr/>
        </p:nvSpPr>
        <p:spPr>
          <a:xfrm>
            <a:off x="731520" y="2880360"/>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C0392B"/>
                </a:solidFill>
                <a:latin typeface="Calibri"/>
                <a:ea typeface="Calibri"/>
                <a:cs typeface="Calibri"/>
                <a:sym typeface="Calibri"/>
              </a:rPr>
              <a:t>•  Entire increase is from inventory (0 → 14 new errors)</a:t>
            </a:r>
            <a:endParaRPr sz="1600"/>
          </a:p>
        </p:txBody>
      </p:sp>
      <p:sp>
        <p:nvSpPr>
          <p:cNvPr id="224" name="Google Shape;224;p6"/>
          <p:cNvSpPr txBox="1"/>
          <p:nvPr/>
        </p:nvSpPr>
        <p:spPr>
          <a:xfrm>
            <a:off x="731520" y="3136392"/>
            <a:ext cx="50292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A1A2E"/>
                </a:solidFill>
                <a:latin typeface="Calibri"/>
                <a:ea typeface="Calibri"/>
                <a:cs typeface="Calibri"/>
                <a:sym typeface="Calibri"/>
              </a:rPr>
              <a:t>•  OpenAI-layer errors stable (10 → 9)</a:t>
            </a:r>
            <a:endParaRPr sz="1600"/>
          </a:p>
        </p:txBody>
      </p:sp>
      <p:sp>
        <p:nvSpPr>
          <p:cNvPr id="225" name="Google Shape;225;p6"/>
          <p:cNvSpPr/>
          <p:nvPr/>
        </p:nvSpPr>
        <p:spPr>
          <a:xfrm>
            <a:off x="365760" y="3749039"/>
            <a:ext cx="5669280" cy="960120"/>
          </a:xfrm>
          <a:prstGeom prst="roundRect">
            <a:avLst>
              <a:gd fmla="val 16667" name="adj"/>
            </a:avLst>
          </a:prstGeom>
          <a:solidFill>
            <a:schemeClr val="lt1"/>
          </a:solidFill>
          <a:ln cap="flat" cmpd="sng" w="19050">
            <a:solidFill>
              <a:srgbClr val="88888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C0392B"/>
                </a:solidFill>
                <a:latin typeface="Calibri"/>
                <a:ea typeface="Calibri"/>
                <a:cs typeface="Calibri"/>
                <a:sym typeface="Calibri"/>
              </a:rPr>
              <a:t>14 Wasted API Completions</a:t>
            </a:r>
            <a:endParaRPr sz="1500"/>
          </a:p>
          <a:p>
            <a:pPr indent="0" lvl="0" marL="0" marR="0" rtl="0" algn="l">
              <a:spcBef>
                <a:spcPts val="400"/>
              </a:spcBef>
              <a:spcAft>
                <a:spcPts val="0"/>
              </a:spcAft>
              <a:buNone/>
            </a:pPr>
            <a:r>
              <a:rPr b="0" i="0" lang="en-US" sz="1200" u="none" cap="none" strike="noStrike">
                <a:solidFill>
                  <a:srgbClr val="1A1A2E"/>
                </a:solidFill>
                <a:latin typeface="Calibri"/>
                <a:ea typeface="Calibri"/>
                <a:cs typeface="Calibri"/>
                <a:sym typeface="Calibri"/>
              </a:rPr>
              <a:t>On all 14 inventory failures, GPT-4o generated a successful response that was discarded. The company paid for 14 completions with zero value delivered.</a:t>
            </a:r>
            <a:endParaRPr sz="1500"/>
          </a:p>
          <a:p>
            <a:pPr indent="0" lvl="0" marL="0" marR="0" rtl="0" algn="l">
              <a:spcBef>
                <a:spcPts val="400"/>
              </a:spcBef>
              <a:spcAft>
                <a:spcPts val="0"/>
              </a:spcAft>
              <a:buNone/>
            </a:pPr>
            <a:r>
              <a:rPr b="1" i="0" lang="en-US" sz="1200" u="none" cap="none" strike="noStrike">
                <a:solidFill>
                  <a:srgbClr val="0F3460"/>
                </a:solidFill>
                <a:latin typeface="Calibri"/>
                <a:ea typeface="Calibri"/>
                <a:cs typeface="Calibri"/>
                <a:sym typeface="Calibri"/>
              </a:rPr>
              <a:t>→ Strongest argument for graceful degradation</a:t>
            </a:r>
            <a:endParaRPr sz="1500"/>
          </a:p>
        </p:txBody>
      </p:sp>
      <p:sp>
        <p:nvSpPr>
          <p:cNvPr id="226" name="Google Shape;226;p6"/>
          <p:cNvSpPr/>
          <p:nvPr/>
        </p:nvSpPr>
        <p:spPr>
          <a:xfrm>
            <a:off x="365750" y="4892052"/>
            <a:ext cx="5669400" cy="1637100"/>
          </a:xfrm>
          <a:prstGeom prst="roundRect">
            <a:avLst>
              <a:gd fmla="val 16667" name="adj"/>
            </a:avLst>
          </a:prstGeom>
          <a:solidFill>
            <a:schemeClr val="lt1"/>
          </a:solidFill>
          <a:ln cap="flat" cmpd="sng" w="19050">
            <a:solidFill>
              <a:srgbClr val="88888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227" name="Google Shape;227;p6"/>
          <p:cNvSpPr txBox="1"/>
          <p:nvPr/>
        </p:nvSpPr>
        <p:spPr>
          <a:xfrm>
            <a:off x="548640" y="4937760"/>
            <a:ext cx="53034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F3460"/>
                </a:solidFill>
                <a:latin typeface="Calibri"/>
                <a:ea typeface="Calibri"/>
                <a:cs typeface="Calibri"/>
                <a:sym typeface="Calibri"/>
              </a:rPr>
              <a:t>Response Quality</a:t>
            </a:r>
            <a:endParaRPr sz="1500"/>
          </a:p>
        </p:txBody>
      </p:sp>
      <p:sp>
        <p:nvSpPr>
          <p:cNvPr id="228" name="Google Shape;228;p6"/>
          <p:cNvSpPr txBox="1"/>
          <p:nvPr/>
        </p:nvSpPr>
        <p:spPr>
          <a:xfrm>
            <a:off x="731520" y="5303520"/>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27AE60"/>
                </a:solidFill>
                <a:latin typeface="Calibri"/>
                <a:ea typeface="Calibri"/>
                <a:cs typeface="Calibri"/>
                <a:sym typeface="Calibri"/>
              </a:rPr>
              <a:t>•  84.9% clean (stop)</a:t>
            </a:r>
            <a:endParaRPr sz="1500"/>
          </a:p>
        </p:txBody>
      </p:sp>
      <p:sp>
        <p:nvSpPr>
          <p:cNvPr id="229" name="Google Shape;229;p6"/>
          <p:cNvSpPr txBox="1"/>
          <p:nvPr/>
        </p:nvSpPr>
        <p:spPr>
          <a:xfrm>
            <a:off x="731520" y="5513832"/>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0F3460"/>
                </a:solidFill>
                <a:latin typeface="Calibri"/>
                <a:ea typeface="Calibri"/>
                <a:cs typeface="Calibri"/>
                <a:sym typeface="Calibri"/>
              </a:rPr>
              <a:t>•  8.3% tool calls (97 OK, 3 failed)</a:t>
            </a:r>
            <a:endParaRPr sz="1500"/>
          </a:p>
        </p:txBody>
      </p:sp>
      <p:sp>
        <p:nvSpPr>
          <p:cNvPr id="230" name="Google Shape;230;p6"/>
          <p:cNvSpPr txBox="1"/>
          <p:nvPr/>
        </p:nvSpPr>
        <p:spPr>
          <a:xfrm>
            <a:off x="731520" y="5724144"/>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C0392B"/>
                </a:solidFill>
                <a:latin typeface="Calibri"/>
                <a:ea typeface="Calibri"/>
                <a:cs typeface="Calibri"/>
                <a:sym typeface="Calibri"/>
              </a:rPr>
              <a:t>•  5.2% truncated (length) — one-line fix: raise max_tokens</a:t>
            </a:r>
            <a:endParaRPr sz="1500"/>
          </a:p>
        </p:txBody>
      </p:sp>
      <p:sp>
        <p:nvSpPr>
          <p:cNvPr id="231" name="Google Shape;231;p6"/>
          <p:cNvSpPr txBox="1"/>
          <p:nvPr/>
        </p:nvSpPr>
        <p:spPr>
          <a:xfrm>
            <a:off x="731520" y="5934456"/>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C0392B"/>
                </a:solidFill>
                <a:latin typeface="Calibri"/>
                <a:ea typeface="Calibri"/>
                <a:cs typeface="Calibri"/>
                <a:sym typeface="Calibri"/>
              </a:rPr>
              <a:t>•  1.6% API errors — no answer at all</a:t>
            </a:r>
            <a:endParaRPr sz="1500"/>
          </a:p>
        </p:txBody>
      </p:sp>
      <p:sp>
        <p:nvSpPr>
          <p:cNvPr id="232" name="Google Shape;232;p6"/>
          <p:cNvSpPr txBox="1"/>
          <p:nvPr/>
        </p:nvSpPr>
        <p:spPr>
          <a:xfrm>
            <a:off x="731520" y="6144768"/>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E67E22"/>
                </a:solidFill>
                <a:latin typeface="Calibri"/>
                <a:ea typeface="Calibri"/>
                <a:cs typeface="Calibri"/>
                <a:sym typeface="Calibri"/>
              </a:rPr>
              <a:t>•  12.6% of policy_only requests have spurious tool calls</a:t>
            </a:r>
            <a:endParaRPr sz="1500"/>
          </a:p>
        </p:txBody>
      </p:sp>
      <p:sp>
        <p:nvSpPr>
          <p:cNvPr id="233" name="Google Shape;233;p6"/>
          <p:cNvSpPr txBox="1"/>
          <p:nvPr/>
        </p:nvSpPr>
        <p:spPr>
          <a:xfrm>
            <a:off x="6217920" y="1188720"/>
            <a:ext cx="5486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F3460"/>
                </a:solidFill>
                <a:latin typeface="Calibri"/>
                <a:ea typeface="Calibri"/>
                <a:cs typeface="Calibri"/>
                <a:sym typeface="Calibri"/>
              </a:rPr>
              <a:t>Six Biggest Risks</a:t>
            </a:r>
            <a:endParaRPr sz="1600"/>
          </a:p>
        </p:txBody>
      </p:sp>
      <p:sp>
        <p:nvSpPr>
          <p:cNvPr id="234" name="Google Shape;234;p6"/>
          <p:cNvSpPr/>
          <p:nvPr/>
        </p:nvSpPr>
        <p:spPr>
          <a:xfrm>
            <a:off x="6309360" y="1554480"/>
            <a:ext cx="320040" cy="274320"/>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1</a:t>
            </a:r>
            <a:endParaRPr sz="1600"/>
          </a:p>
        </p:txBody>
      </p:sp>
      <p:sp>
        <p:nvSpPr>
          <p:cNvPr id="235" name="Google Shape;235;p6"/>
          <p:cNvSpPr txBox="1"/>
          <p:nvPr/>
        </p:nvSpPr>
        <p:spPr>
          <a:xfrm>
            <a:off x="6720840" y="153619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Runaway Cost</a:t>
            </a:r>
            <a:endParaRPr sz="1600"/>
          </a:p>
        </p:txBody>
      </p:sp>
      <p:sp>
        <p:nvSpPr>
          <p:cNvPr id="236" name="Google Shape;236;p6"/>
          <p:cNvSpPr txBox="1"/>
          <p:nvPr/>
        </p:nvSpPr>
        <p:spPr>
          <a:xfrm>
            <a:off x="6720840" y="178308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Cost per request doubles every ~14 days. At 4× expansion, unsustainable within one quarter.</a:t>
            </a:r>
            <a:endParaRPr sz="1600"/>
          </a:p>
        </p:txBody>
      </p:sp>
      <p:sp>
        <p:nvSpPr>
          <p:cNvPr id="237" name="Google Shape;237;p6"/>
          <p:cNvSpPr/>
          <p:nvPr/>
        </p:nvSpPr>
        <p:spPr>
          <a:xfrm>
            <a:off x="6309360" y="2331720"/>
            <a:ext cx="320040" cy="274320"/>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2</a:t>
            </a:r>
            <a:endParaRPr sz="1600"/>
          </a:p>
        </p:txBody>
      </p:sp>
      <p:sp>
        <p:nvSpPr>
          <p:cNvPr id="238" name="Google Shape;238;p6"/>
          <p:cNvSpPr txBox="1"/>
          <p:nvPr/>
        </p:nvSpPr>
        <p:spPr>
          <a:xfrm>
            <a:off x="6720840" y="231343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Scaling Broken Foundation</a:t>
            </a:r>
            <a:endParaRPr sz="1600"/>
          </a:p>
        </p:txBody>
      </p:sp>
      <p:sp>
        <p:nvSpPr>
          <p:cNvPr id="239" name="Google Shape;239;p6"/>
          <p:cNvSpPr txBox="1"/>
          <p:nvPr/>
        </p:nvSpPr>
        <p:spPr>
          <a:xfrm>
            <a:off x="6720840" y="256032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8.2% peak error rate. Inventory degrading further. Adding 3 teams amplifies worse reliability.</a:t>
            </a:r>
            <a:endParaRPr sz="1600"/>
          </a:p>
        </p:txBody>
      </p:sp>
      <p:sp>
        <p:nvSpPr>
          <p:cNvPr id="240" name="Google Shape;240;p6"/>
          <p:cNvSpPr/>
          <p:nvPr/>
        </p:nvSpPr>
        <p:spPr>
          <a:xfrm>
            <a:off x="6309360" y="3108960"/>
            <a:ext cx="320040" cy="27432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3</a:t>
            </a:r>
            <a:endParaRPr sz="1600"/>
          </a:p>
        </p:txBody>
      </p:sp>
      <p:sp>
        <p:nvSpPr>
          <p:cNvPr id="241" name="Google Shape;241;p6"/>
          <p:cNvSpPr txBox="1"/>
          <p:nvPr/>
        </p:nvSpPr>
        <p:spPr>
          <a:xfrm>
            <a:off x="6720840" y="309067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Employee Trust Erosion</a:t>
            </a:r>
            <a:endParaRPr sz="1600"/>
          </a:p>
        </p:txBody>
      </p:sp>
      <p:sp>
        <p:nvSpPr>
          <p:cNvPr id="242" name="Google Shape;242;p6"/>
          <p:cNvSpPr txBox="1"/>
          <p:nvPr/>
        </p:nvSpPr>
        <p:spPr>
          <a:xfrm>
            <a:off x="6720840" y="333756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6.8% incomplete/failed answers. 1.0 queries/user suggests trust already gone. Recovery harder than prevention.</a:t>
            </a:r>
            <a:endParaRPr sz="1600"/>
          </a:p>
        </p:txBody>
      </p:sp>
      <p:sp>
        <p:nvSpPr>
          <p:cNvPr id="243" name="Google Shape;243;p6"/>
          <p:cNvSpPr/>
          <p:nvPr/>
        </p:nvSpPr>
        <p:spPr>
          <a:xfrm>
            <a:off x="6309360" y="3886200"/>
            <a:ext cx="320040" cy="27432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4</a:t>
            </a:r>
            <a:endParaRPr sz="1600"/>
          </a:p>
        </p:txBody>
      </p:sp>
      <p:sp>
        <p:nvSpPr>
          <p:cNvPr id="244" name="Google Shape;244;p6"/>
          <p:cNvSpPr txBox="1"/>
          <p:nvPr/>
        </p:nvSpPr>
        <p:spPr>
          <a:xfrm>
            <a:off x="6720840" y="386791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No Graceful Degradation</a:t>
            </a:r>
            <a:endParaRPr sz="1600"/>
          </a:p>
        </p:txBody>
      </p:sp>
      <p:sp>
        <p:nvSpPr>
          <p:cNvPr id="245" name="Google Shape;245;p6"/>
          <p:cNvSpPr txBox="1"/>
          <p:nvPr/>
        </p:nvSpPr>
        <p:spPr>
          <a:xfrm>
            <a:off x="6720840" y="411480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Any downstream failure kills entire request. 14 wasted API completions discarded. No partial-answer fallback.</a:t>
            </a:r>
            <a:endParaRPr sz="1600"/>
          </a:p>
        </p:txBody>
      </p:sp>
      <p:sp>
        <p:nvSpPr>
          <p:cNvPr id="246" name="Google Shape;246;p6"/>
          <p:cNvSpPr/>
          <p:nvPr/>
        </p:nvSpPr>
        <p:spPr>
          <a:xfrm>
            <a:off x="6309360" y="4663440"/>
            <a:ext cx="320040" cy="274320"/>
          </a:xfrm>
          <a:prstGeom prst="roundRect">
            <a:avLst>
              <a:gd fmla="val 16667" name="adj"/>
            </a:avLst>
          </a:prstGeom>
          <a:solidFill>
            <a:srgbClr val="D4A0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5</a:t>
            </a:r>
            <a:endParaRPr sz="1600"/>
          </a:p>
        </p:txBody>
      </p:sp>
      <p:sp>
        <p:nvSpPr>
          <p:cNvPr id="247" name="Google Shape;247;p6"/>
          <p:cNvSpPr txBox="1"/>
          <p:nvPr/>
        </p:nvSpPr>
        <p:spPr>
          <a:xfrm>
            <a:off x="6720840" y="464515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Poor Cache Utilization</a:t>
            </a:r>
            <a:endParaRPr sz="1600"/>
          </a:p>
        </p:txBody>
      </p:sp>
      <p:sp>
        <p:nvSpPr>
          <p:cNvPr id="248" name="Google Shape;248;p6"/>
          <p:cNvSpPr txBox="1"/>
          <p:nvPr/>
        </p:nvSpPr>
        <p:spPr>
          <a:xfrm>
            <a:off x="6720840" y="489204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91.4% miss rate. Common policy questions fully reprocessed every time across hundreds of stores.</a:t>
            </a:r>
            <a:endParaRPr sz="1600"/>
          </a:p>
        </p:txBody>
      </p:sp>
      <p:sp>
        <p:nvSpPr>
          <p:cNvPr id="249" name="Google Shape;249;p6"/>
          <p:cNvSpPr/>
          <p:nvPr/>
        </p:nvSpPr>
        <p:spPr>
          <a:xfrm>
            <a:off x="6309360" y="5440680"/>
            <a:ext cx="320040" cy="274320"/>
          </a:xfrm>
          <a:prstGeom prst="roundRect">
            <a:avLst>
              <a:gd fmla="val 16667" name="adj"/>
            </a:avLst>
          </a:prstGeom>
          <a:solidFill>
            <a:srgbClr val="D4A01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6</a:t>
            </a:r>
            <a:endParaRPr sz="1600"/>
          </a:p>
        </p:txBody>
      </p:sp>
      <p:sp>
        <p:nvSpPr>
          <p:cNvPr id="250" name="Google Shape;250;p6"/>
          <p:cNvSpPr txBox="1"/>
          <p:nvPr/>
        </p:nvSpPr>
        <p:spPr>
          <a:xfrm>
            <a:off x="6720840" y="5422392"/>
            <a:ext cx="4846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A1A2E"/>
                </a:solidFill>
                <a:latin typeface="Calibri"/>
                <a:ea typeface="Calibri"/>
                <a:cs typeface="Calibri"/>
                <a:sym typeface="Calibri"/>
              </a:rPr>
              <a:t>No Quality Visibility</a:t>
            </a:r>
            <a:endParaRPr sz="1600"/>
          </a:p>
        </p:txBody>
      </p:sp>
      <p:sp>
        <p:nvSpPr>
          <p:cNvPr id="251" name="Google Shape;251;p6"/>
          <p:cNvSpPr txBox="1"/>
          <p:nvPr/>
        </p:nvSpPr>
        <p:spPr>
          <a:xfrm>
            <a:off x="6720840" y="5669280"/>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55555"/>
                </a:solidFill>
                <a:latin typeface="Calibri"/>
                <a:ea typeface="Calibri"/>
                <a:cs typeface="Calibri"/>
                <a:sym typeface="Calibri"/>
              </a:rPr>
              <a:t>No feedback, no logging, no evals, no dashboard. Team can't tell if answers are correct.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7"/>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7"/>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Key Questions &amp; Documented Assumptions</a:t>
            </a:r>
            <a:endParaRPr/>
          </a:p>
        </p:txBody>
      </p:sp>
      <p:sp>
        <p:nvSpPr>
          <p:cNvPr id="259" name="Google Shape;259;p7"/>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What I Need to Validate Before Finalizing Recommendations</a:t>
            </a:r>
            <a:endParaRPr/>
          </a:p>
        </p:txBody>
      </p:sp>
      <p:sp>
        <p:nvSpPr>
          <p:cNvPr id="260" name="Google Shape;260;p7"/>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7"/>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7/10</a:t>
            </a:r>
            <a:endParaRPr/>
          </a:p>
        </p:txBody>
      </p:sp>
      <p:sp>
        <p:nvSpPr>
          <p:cNvPr id="262" name="Google Shape;262;p7"/>
          <p:cNvSpPr txBox="1"/>
          <p:nvPr/>
        </p:nvSpPr>
        <p:spPr>
          <a:xfrm>
            <a:off x="457200" y="1143000"/>
            <a:ext cx="54864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Questions I Need Answered</a:t>
            </a:r>
            <a:endParaRPr/>
          </a:p>
        </p:txBody>
      </p:sp>
      <p:sp>
        <p:nvSpPr>
          <p:cNvPr id="263" name="Google Shape;263;p7"/>
          <p:cNvSpPr/>
          <p:nvPr/>
        </p:nvSpPr>
        <p:spPr>
          <a:xfrm>
            <a:off x="457200" y="1508748"/>
            <a:ext cx="457200" cy="309900"/>
          </a:xfrm>
          <a:prstGeom prst="roundRect">
            <a:avLst>
              <a:gd fmla="val 16667" name="adj"/>
            </a:avLst>
          </a:prstGeom>
          <a:solidFill>
            <a:srgbClr val="E8ECF4"/>
          </a:solidFill>
          <a:ln cap="flat" cmpd="sng" w="12700">
            <a:solidFill>
              <a:srgbClr val="55555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666666"/>
                </a:solidFill>
                <a:latin typeface="Calibri"/>
                <a:ea typeface="Calibri"/>
                <a:cs typeface="Calibri"/>
                <a:sym typeface="Calibri"/>
              </a:rPr>
              <a:t>Q1</a:t>
            </a:r>
            <a:endParaRPr b="1" sz="1500">
              <a:solidFill>
                <a:srgbClr val="666666"/>
              </a:solidFill>
            </a:endParaRPr>
          </a:p>
        </p:txBody>
      </p:sp>
      <p:sp>
        <p:nvSpPr>
          <p:cNvPr id="264" name="Google Shape;264;p7"/>
          <p:cNvSpPr txBox="1"/>
          <p:nvPr/>
        </p:nvSpPr>
        <p:spPr>
          <a:xfrm>
            <a:off x="1005841" y="1508748"/>
            <a:ext cx="4846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C0392B"/>
                </a:solidFill>
                <a:latin typeface="Calibri"/>
                <a:ea typeface="Calibri"/>
                <a:cs typeface="Calibri"/>
                <a:sym typeface="Calibri"/>
              </a:rPr>
              <a:t>What is the system prompt template, and is anything appending to it automatically?</a:t>
            </a:r>
            <a:endParaRPr sz="1500"/>
          </a:p>
        </p:txBody>
      </p:sp>
      <p:sp>
        <p:nvSpPr>
          <p:cNvPr id="265" name="Google Shape;265;p7"/>
          <p:cNvSpPr/>
          <p:nvPr/>
        </p:nvSpPr>
        <p:spPr>
          <a:xfrm>
            <a:off x="457200" y="1896358"/>
            <a:ext cx="457200" cy="309900"/>
          </a:xfrm>
          <a:prstGeom prst="roundRect">
            <a:avLst>
              <a:gd fmla="val 16667" name="adj"/>
            </a:avLst>
          </a:prstGeom>
          <a:solidFill>
            <a:srgbClr val="E8ECF4"/>
          </a:solidFill>
          <a:ln cap="flat" cmpd="sng" w="12700">
            <a:solidFill>
              <a:srgbClr val="555555"/>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666666"/>
                </a:solidFill>
                <a:latin typeface="Calibri"/>
                <a:ea typeface="Calibri"/>
                <a:cs typeface="Calibri"/>
                <a:sym typeface="Calibri"/>
              </a:rPr>
              <a:t>Q2</a:t>
            </a:r>
            <a:endParaRPr b="1" sz="1500">
              <a:solidFill>
                <a:srgbClr val="666666"/>
              </a:solidFill>
            </a:endParaRPr>
          </a:p>
        </p:txBody>
      </p:sp>
      <p:sp>
        <p:nvSpPr>
          <p:cNvPr id="266" name="Google Shape;266;p7"/>
          <p:cNvSpPr txBox="1"/>
          <p:nvPr/>
        </p:nvSpPr>
        <p:spPr>
          <a:xfrm>
            <a:off x="1005841" y="1896358"/>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C0392B"/>
                </a:solidFill>
                <a:latin typeface="Calibri"/>
                <a:ea typeface="Calibri"/>
                <a:cs typeface="Calibri"/>
                <a:sym typeface="Calibri"/>
              </a:rPr>
              <a:t>What changed with the inventory service on June 8–9?</a:t>
            </a:r>
            <a:endParaRPr sz="1500"/>
          </a:p>
        </p:txBody>
      </p:sp>
      <p:sp>
        <p:nvSpPr>
          <p:cNvPr id="267" name="Google Shape;267;p7"/>
          <p:cNvSpPr/>
          <p:nvPr/>
        </p:nvSpPr>
        <p:spPr>
          <a:xfrm>
            <a:off x="457200" y="2283968"/>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Q3</a:t>
            </a:r>
            <a:endParaRPr sz="1500"/>
          </a:p>
        </p:txBody>
      </p:sp>
      <p:sp>
        <p:nvSpPr>
          <p:cNvPr id="268" name="Google Shape;268;p7"/>
          <p:cNvSpPr txBox="1"/>
          <p:nvPr/>
        </p:nvSpPr>
        <p:spPr>
          <a:xfrm>
            <a:off x="1005841" y="2283968"/>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Who raised the inventory timeout to 1,300ms? Intended as temporary?</a:t>
            </a:r>
            <a:endParaRPr sz="1500"/>
          </a:p>
        </p:txBody>
      </p:sp>
      <p:sp>
        <p:nvSpPr>
          <p:cNvPr id="269" name="Google Shape;269;p7"/>
          <p:cNvSpPr/>
          <p:nvPr/>
        </p:nvSpPr>
        <p:spPr>
          <a:xfrm>
            <a:off x="457200" y="2671577"/>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Q4</a:t>
            </a:r>
            <a:endParaRPr sz="1500"/>
          </a:p>
        </p:txBody>
      </p:sp>
      <p:sp>
        <p:nvSpPr>
          <p:cNvPr id="270" name="Google Shape;270;p7"/>
          <p:cNvSpPr txBox="1"/>
          <p:nvPr/>
        </p:nvSpPr>
        <p:spPr>
          <a:xfrm>
            <a:off x="1005841" y="2671577"/>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When inventory fails, what does the employee see?</a:t>
            </a:r>
            <a:endParaRPr sz="1500"/>
          </a:p>
        </p:txBody>
      </p:sp>
      <p:sp>
        <p:nvSpPr>
          <p:cNvPr id="271" name="Google Shape;271;p7"/>
          <p:cNvSpPr/>
          <p:nvPr/>
        </p:nvSpPr>
        <p:spPr>
          <a:xfrm>
            <a:off x="457200" y="3059187"/>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Q5</a:t>
            </a:r>
            <a:endParaRPr sz="1500"/>
          </a:p>
        </p:txBody>
      </p:sp>
      <p:sp>
        <p:nvSpPr>
          <p:cNvPr id="272" name="Google Shape;272;p7"/>
          <p:cNvSpPr txBox="1"/>
          <p:nvPr/>
        </p:nvSpPr>
        <p:spPr>
          <a:xfrm>
            <a:off x="1005841" y="3059187"/>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What is the current max_tokens parameter?</a:t>
            </a:r>
            <a:endParaRPr sz="1500"/>
          </a:p>
        </p:txBody>
      </p:sp>
      <p:sp>
        <p:nvSpPr>
          <p:cNvPr id="273" name="Google Shape;273;p7"/>
          <p:cNvSpPr/>
          <p:nvPr/>
        </p:nvSpPr>
        <p:spPr>
          <a:xfrm>
            <a:off x="457200" y="3446797"/>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Q6</a:t>
            </a:r>
            <a:endParaRPr sz="1500"/>
          </a:p>
        </p:txBody>
      </p:sp>
      <p:sp>
        <p:nvSpPr>
          <p:cNvPr id="274" name="Google Shape;274;p7"/>
          <p:cNvSpPr txBox="1"/>
          <p:nvPr/>
        </p:nvSpPr>
        <p:spPr>
          <a:xfrm>
            <a:off x="1005841" y="3446797"/>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What is the current OpenAI usage tier?</a:t>
            </a:r>
            <a:endParaRPr sz="1500"/>
          </a:p>
        </p:txBody>
      </p:sp>
      <p:sp>
        <p:nvSpPr>
          <p:cNvPr id="275" name="Google Shape;275;p7"/>
          <p:cNvSpPr/>
          <p:nvPr/>
        </p:nvSpPr>
        <p:spPr>
          <a:xfrm>
            <a:off x="457200" y="3834407"/>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Q7</a:t>
            </a:r>
            <a:endParaRPr sz="1500"/>
          </a:p>
        </p:txBody>
      </p:sp>
      <p:sp>
        <p:nvSpPr>
          <p:cNvPr id="276" name="Google Shape;276;p7"/>
          <p:cNvSpPr txBox="1"/>
          <p:nvPr/>
        </p:nvSpPr>
        <p:spPr>
          <a:xfrm>
            <a:off x="1005841" y="3834407"/>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What query patterns will the 3 new teams introduce?</a:t>
            </a:r>
            <a:endParaRPr sz="1500"/>
          </a:p>
        </p:txBody>
      </p:sp>
      <p:sp>
        <p:nvSpPr>
          <p:cNvPr id="277" name="Google Shape;277;p7"/>
          <p:cNvSpPr/>
          <p:nvPr/>
        </p:nvSpPr>
        <p:spPr>
          <a:xfrm>
            <a:off x="457200" y="4222017"/>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Q8</a:t>
            </a:r>
            <a:endParaRPr sz="1500"/>
          </a:p>
        </p:txBody>
      </p:sp>
      <p:sp>
        <p:nvSpPr>
          <p:cNvPr id="278" name="Google Shape;278;p7"/>
          <p:cNvSpPr txBox="1"/>
          <p:nvPr/>
        </p:nvSpPr>
        <p:spPr>
          <a:xfrm>
            <a:off x="1005841" y="4222017"/>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Are tool/function definitions sent for all routes, including policy_only?</a:t>
            </a:r>
            <a:endParaRPr sz="1500"/>
          </a:p>
        </p:txBody>
      </p:sp>
      <p:sp>
        <p:nvSpPr>
          <p:cNvPr id="279" name="Google Shape;279;p7"/>
          <p:cNvSpPr/>
          <p:nvPr/>
        </p:nvSpPr>
        <p:spPr>
          <a:xfrm>
            <a:off x="457200" y="4609626"/>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Q9</a:t>
            </a:r>
            <a:endParaRPr sz="1500"/>
          </a:p>
        </p:txBody>
      </p:sp>
      <p:sp>
        <p:nvSpPr>
          <p:cNvPr id="280" name="Google Shape;280;p7"/>
          <p:cNvSpPr txBox="1"/>
          <p:nvPr/>
        </p:nvSpPr>
        <p:spPr>
          <a:xfrm>
            <a:off x="1005841" y="4609626"/>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What is the AWS Lambda concurrency limit? Reserved concurrency?</a:t>
            </a:r>
            <a:endParaRPr sz="1500"/>
          </a:p>
        </p:txBody>
      </p:sp>
      <p:sp>
        <p:nvSpPr>
          <p:cNvPr id="281" name="Google Shape;281;p7"/>
          <p:cNvSpPr/>
          <p:nvPr/>
        </p:nvSpPr>
        <p:spPr>
          <a:xfrm>
            <a:off x="457200" y="4997236"/>
            <a:ext cx="457200" cy="30990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0F3460"/>
                </a:solidFill>
                <a:latin typeface="Calibri"/>
                <a:ea typeface="Calibri"/>
                <a:cs typeface="Calibri"/>
                <a:sym typeface="Calibri"/>
              </a:rPr>
              <a:t>Q10</a:t>
            </a:r>
            <a:endParaRPr sz="1500"/>
          </a:p>
        </p:txBody>
      </p:sp>
      <p:sp>
        <p:nvSpPr>
          <p:cNvPr id="282" name="Google Shape;282;p7"/>
          <p:cNvSpPr txBox="1"/>
          <p:nvPr/>
        </p:nvSpPr>
        <p:spPr>
          <a:xfrm>
            <a:off x="1005841" y="4997236"/>
            <a:ext cx="48462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Is there monitoring and alerting in place? Was anyone alerted to Week 2?</a:t>
            </a:r>
            <a:endParaRPr sz="1500"/>
          </a:p>
        </p:txBody>
      </p:sp>
      <p:sp>
        <p:nvSpPr>
          <p:cNvPr id="283" name="Google Shape;283;p7"/>
          <p:cNvSpPr/>
          <p:nvPr/>
        </p:nvSpPr>
        <p:spPr>
          <a:xfrm>
            <a:off x="457200" y="5589408"/>
            <a:ext cx="5486400" cy="594300"/>
          </a:xfrm>
          <a:prstGeom prst="roundRect">
            <a:avLst>
              <a:gd fmla="val 16667" name="adj"/>
            </a:avLst>
          </a:prstGeom>
          <a:solidFill>
            <a:srgbClr val="FDF0EF"/>
          </a:solidFill>
          <a:ln cap="flat" cmpd="sng" w="12700">
            <a:solidFill>
              <a:srgbClr val="C0392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C0392B"/>
                </a:solidFill>
                <a:latin typeface="Calibri"/>
                <a:ea typeface="Calibri"/>
                <a:cs typeface="Calibri"/>
                <a:sym typeface="Calibri"/>
              </a:rPr>
              <a:t>Q1 is the single most important question — the root cause of the cost spiral depends on the answer.</a:t>
            </a:r>
            <a:endParaRPr sz="1500"/>
          </a:p>
          <a:p>
            <a:pPr indent="0" lvl="0" marL="0" marR="0" rtl="0" algn="l">
              <a:spcBef>
                <a:spcPts val="400"/>
              </a:spcBef>
              <a:spcAft>
                <a:spcPts val="0"/>
              </a:spcAft>
              <a:buNone/>
            </a:pPr>
            <a:r>
              <a:rPr b="0" i="0" lang="en-US" sz="1200" u="none" cap="none" strike="noStrike">
                <a:solidFill>
                  <a:srgbClr val="1A1A2E"/>
                </a:solidFill>
                <a:latin typeface="Calibri"/>
                <a:ea typeface="Calibri"/>
                <a:cs typeface="Calibri"/>
                <a:sym typeface="Calibri"/>
              </a:rPr>
              <a:t>Q2 determines whether inventory needs a fix, a rollback, or a vendor escalation.</a:t>
            </a:r>
            <a:endParaRPr sz="1500"/>
          </a:p>
        </p:txBody>
      </p:sp>
      <p:sp>
        <p:nvSpPr>
          <p:cNvPr id="284" name="Google Shape;284;p7"/>
          <p:cNvSpPr txBox="1"/>
          <p:nvPr/>
        </p:nvSpPr>
        <p:spPr>
          <a:xfrm>
            <a:off x="6217920" y="1143000"/>
            <a:ext cx="54864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Working Assumptions</a:t>
            </a:r>
            <a:endParaRPr/>
          </a:p>
        </p:txBody>
      </p:sp>
      <p:sp>
        <p:nvSpPr>
          <p:cNvPr id="285" name="Google Shape;285;p7"/>
          <p:cNvSpPr txBox="1"/>
          <p:nvPr/>
        </p:nvSpPr>
        <p:spPr>
          <a:xfrm>
            <a:off x="6217925" y="1463050"/>
            <a:ext cx="5486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555555"/>
                </a:solidFill>
                <a:latin typeface="Calibri"/>
                <a:ea typeface="Calibri"/>
                <a:cs typeface="Calibri"/>
                <a:sym typeface="Calibri"/>
              </a:rPr>
              <a:t>In the absence of answers, I proceed with:</a:t>
            </a:r>
            <a:endParaRPr sz="1600"/>
          </a:p>
        </p:txBody>
      </p:sp>
      <p:sp>
        <p:nvSpPr>
          <p:cNvPr id="286" name="Google Shape;286;p7"/>
          <p:cNvSpPr txBox="1"/>
          <p:nvPr/>
        </p:nvSpPr>
        <p:spPr>
          <a:xfrm>
            <a:off x="6400805" y="1788762"/>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1.  10% sample is representative (uniform random sampling)</a:t>
            </a:r>
            <a:endParaRPr sz="1600"/>
          </a:p>
        </p:txBody>
      </p:sp>
      <p:sp>
        <p:nvSpPr>
          <p:cNvPr id="287" name="Google Shape;287;p7"/>
          <p:cNvSpPr txBox="1"/>
          <p:nvPr/>
        </p:nvSpPr>
        <p:spPr>
          <a:xfrm>
            <a:off x="6400805" y="2161004"/>
            <a:ext cx="5303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2.  Prompt growth is system-level context injection (proven: every user appears once, growth uniform across all routes)</a:t>
            </a:r>
            <a:endParaRPr sz="1600"/>
          </a:p>
        </p:txBody>
      </p:sp>
      <p:sp>
        <p:nvSpPr>
          <p:cNvPr id="288" name="Google Shape;288;p7"/>
          <p:cNvSpPr txBox="1"/>
          <p:nvPr/>
        </p:nvSpPr>
        <p:spPr>
          <a:xfrm>
            <a:off x="6400805" y="2533247"/>
            <a:ext cx="5303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3.  Inventory degradation is service-side, not load-driven (proven: flat request volume)</a:t>
            </a:r>
            <a:endParaRPr sz="1600"/>
          </a:p>
        </p:txBody>
      </p:sp>
      <p:sp>
        <p:nvSpPr>
          <p:cNvPr id="289" name="Google Shape;289;p7"/>
          <p:cNvSpPr txBox="1"/>
          <p:nvPr/>
        </p:nvSpPr>
        <p:spPr>
          <a:xfrm>
            <a:off x="6400805" y="2905489"/>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4.  Expansion to 3 teams means ~4× total volume</a:t>
            </a:r>
            <a:endParaRPr sz="1600"/>
          </a:p>
        </p:txBody>
      </p:sp>
      <p:sp>
        <p:nvSpPr>
          <p:cNvPr id="290" name="Google Shape;290;p7"/>
          <p:cNvSpPr txBox="1"/>
          <p:nvPr/>
        </p:nvSpPr>
        <p:spPr>
          <a:xfrm>
            <a:off x="6400805" y="3277731"/>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5.  New teams will have broadly similar query patterns</a:t>
            </a:r>
            <a:endParaRPr sz="1600"/>
          </a:p>
        </p:txBody>
      </p:sp>
      <p:sp>
        <p:nvSpPr>
          <p:cNvPr id="291" name="Google Shape;291;p7"/>
          <p:cNvSpPr txBox="1"/>
          <p:nvPr/>
        </p:nvSpPr>
        <p:spPr>
          <a:xfrm>
            <a:off x="6400805" y="3649974"/>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6.  Peak hours (11–13h, 16–18h) = retail shift patterns, will persist</a:t>
            </a:r>
            <a:endParaRPr sz="1600"/>
          </a:p>
        </p:txBody>
      </p:sp>
      <p:sp>
        <p:nvSpPr>
          <p:cNvPr id="292" name="Google Shape;292;p7"/>
          <p:cNvSpPr txBox="1"/>
          <p:nvPr/>
        </p:nvSpPr>
        <p:spPr>
          <a:xfrm>
            <a:off x="6400805" y="4022216"/>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7.  No streaming (confirmed: ~5ms delta between usage and span latency)</a:t>
            </a:r>
            <a:endParaRPr sz="1600"/>
          </a:p>
        </p:txBody>
      </p:sp>
      <p:sp>
        <p:nvSpPr>
          <p:cNvPr id="293" name="Google Shape;293;p7"/>
          <p:cNvSpPr txBox="1"/>
          <p:nvPr/>
        </p:nvSpPr>
        <p:spPr>
          <a:xfrm>
            <a:off x="6400805" y="4394458"/>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8.  No dedicated caching infrastructure outside Lambda memory</a:t>
            </a:r>
            <a:endParaRPr sz="1600"/>
          </a:p>
        </p:txBody>
      </p:sp>
      <p:sp>
        <p:nvSpPr>
          <p:cNvPr id="294" name="Google Shape;294;p7"/>
          <p:cNvSpPr txBox="1"/>
          <p:nvPr/>
        </p:nvSpPr>
        <p:spPr>
          <a:xfrm>
            <a:off x="6400805" y="4766700"/>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9.  14 wasted OpenAI calls = actual API spend with no value</a:t>
            </a:r>
            <a:endParaRPr sz="1600"/>
          </a:p>
        </p:txBody>
      </p:sp>
      <p:sp>
        <p:nvSpPr>
          <p:cNvPr id="295" name="Google Shape;295;p7"/>
          <p:cNvSpPr txBox="1"/>
          <p:nvPr/>
        </p:nvSpPr>
        <p:spPr>
          <a:xfrm>
            <a:off x="6400805" y="5138943"/>
            <a:ext cx="5303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A1A2E"/>
                </a:solidFill>
                <a:latin typeface="Calibri"/>
                <a:ea typeface="Calibri"/>
                <a:cs typeface="Calibri"/>
                <a:sym typeface="Calibri"/>
              </a:rPr>
              <a:t>10.  Cost field reflects enterprise cost model; growth rates are valid</a:t>
            </a:r>
            <a:endParaRPr sz="1600"/>
          </a:p>
        </p:txBody>
      </p:sp>
      <p:sp>
        <p:nvSpPr>
          <p:cNvPr id="296" name="Google Shape;296;p7"/>
          <p:cNvSpPr/>
          <p:nvPr/>
        </p:nvSpPr>
        <p:spPr>
          <a:xfrm>
            <a:off x="6217920" y="5532120"/>
            <a:ext cx="5486400" cy="73152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27AE60"/>
                </a:solidFill>
                <a:latin typeface="Calibri"/>
                <a:ea typeface="Calibri"/>
                <a:cs typeface="Calibri"/>
                <a:sym typeface="Calibri"/>
              </a:rPr>
              <a:t>Key assumptions validated by data:</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Assumptions #2 and #3 are proven directly from telemetry — not estimated. I'll update remaining assumptions as we get answers to the questions on the left.</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8"/>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8"/>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What I Would Do Next</a:t>
            </a:r>
            <a:endParaRPr/>
          </a:p>
        </p:txBody>
      </p:sp>
      <p:sp>
        <p:nvSpPr>
          <p:cNvPr id="304" name="Google Shape;304;p8"/>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Three-Phase Action Plan: Stabilize → Optimize → Expand</a:t>
            </a:r>
            <a:endParaRPr/>
          </a:p>
        </p:txBody>
      </p:sp>
      <p:sp>
        <p:nvSpPr>
          <p:cNvPr id="305" name="Google Shape;305;p8"/>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8"/>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8/10</a:t>
            </a:r>
            <a:endParaRPr/>
          </a:p>
        </p:txBody>
      </p:sp>
      <p:sp>
        <p:nvSpPr>
          <p:cNvPr id="307" name="Google Shape;307;p8"/>
          <p:cNvSpPr/>
          <p:nvPr/>
        </p:nvSpPr>
        <p:spPr>
          <a:xfrm>
            <a:off x="274320" y="1143000"/>
            <a:ext cx="3657600" cy="502920"/>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Phase 1: Stabilize  |  Weeks 1–2</a:t>
            </a:r>
            <a:endParaRPr/>
          </a:p>
        </p:txBody>
      </p:sp>
      <p:sp>
        <p:nvSpPr>
          <p:cNvPr id="308" name="Google Shape;308;p8"/>
          <p:cNvSpPr/>
          <p:nvPr/>
        </p:nvSpPr>
        <p:spPr>
          <a:xfrm>
            <a:off x="274320" y="1645920"/>
            <a:ext cx="3657600" cy="4754880"/>
          </a:xfrm>
          <a:prstGeom prst="roundRect">
            <a:avLst>
              <a:gd fmla="val 16667" name="adj"/>
            </a:avLst>
          </a:prstGeom>
          <a:solidFill>
            <a:srgbClr val="FDF0EF"/>
          </a:solidFill>
          <a:ln cap="flat" cmpd="sng" w="12700">
            <a:solidFill>
              <a:srgbClr val="C0392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8"/>
          <p:cNvSpPr/>
          <p:nvPr/>
        </p:nvSpPr>
        <p:spPr>
          <a:xfrm>
            <a:off x="365760" y="1737360"/>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a:t>
            </a:r>
            <a:endParaRPr/>
          </a:p>
        </p:txBody>
      </p:sp>
      <p:sp>
        <p:nvSpPr>
          <p:cNvPr id="310" name="Google Shape;310;p8"/>
          <p:cNvSpPr txBox="1"/>
          <p:nvPr/>
        </p:nvSpPr>
        <p:spPr>
          <a:xfrm>
            <a:off x="777240" y="171907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Diagnose &amp; halt prompt token growth</a:t>
            </a:r>
            <a:endParaRPr/>
          </a:p>
        </p:txBody>
      </p:sp>
      <p:sp>
        <p:nvSpPr>
          <p:cNvPr id="311" name="Google Shape;311;p8"/>
          <p:cNvSpPr txBox="1"/>
          <p:nvPr/>
        </p:nvSpPr>
        <p:spPr>
          <a:xfrm>
            <a:off x="777240" y="192024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Review system prompt template, identify what adds ~86 tok/day, cap at &lt;1,000 tokens</a:t>
            </a:r>
            <a:endParaRPr/>
          </a:p>
        </p:txBody>
      </p:sp>
      <p:sp>
        <p:nvSpPr>
          <p:cNvPr id="312" name="Google Shape;312;p8"/>
          <p:cNvSpPr/>
          <p:nvPr/>
        </p:nvSpPr>
        <p:spPr>
          <a:xfrm>
            <a:off x="365760" y="2395728"/>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A2</a:t>
            </a:r>
            <a:endParaRPr/>
          </a:p>
        </p:txBody>
      </p:sp>
      <p:sp>
        <p:nvSpPr>
          <p:cNvPr id="313" name="Google Shape;313;p8"/>
          <p:cNvSpPr txBox="1"/>
          <p:nvPr/>
        </p:nvSpPr>
        <p:spPr>
          <a:xfrm>
            <a:off x="777240" y="2377440"/>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Inventory fix + graceful degradation</a:t>
            </a:r>
            <a:endParaRPr/>
          </a:p>
        </p:txBody>
      </p:sp>
      <p:sp>
        <p:nvSpPr>
          <p:cNvPr id="314" name="Google Shape;314;p8"/>
          <p:cNvSpPr txBox="1"/>
          <p:nvPr/>
        </p:nvSpPr>
        <p:spPr>
          <a:xfrm>
            <a:off x="777240" y="2578608"/>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Investigate June 8–9 change; serve partial answers when inventory fails instead of 500 errors</a:t>
            </a:r>
            <a:endParaRPr/>
          </a:p>
        </p:txBody>
      </p:sp>
      <p:sp>
        <p:nvSpPr>
          <p:cNvPr id="315" name="Google Shape;315;p8"/>
          <p:cNvSpPr/>
          <p:nvPr/>
        </p:nvSpPr>
        <p:spPr>
          <a:xfrm>
            <a:off x="365760" y="3054096"/>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A3</a:t>
            </a:r>
            <a:endParaRPr/>
          </a:p>
        </p:txBody>
      </p:sp>
      <p:sp>
        <p:nvSpPr>
          <p:cNvPr id="316" name="Google Shape;316;p8"/>
          <p:cNvSpPr txBox="1"/>
          <p:nvPr/>
        </p:nvSpPr>
        <p:spPr>
          <a:xfrm>
            <a:off x="777240" y="3035808"/>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User feedback mechanism</a:t>
            </a:r>
            <a:endParaRPr/>
          </a:p>
        </p:txBody>
      </p:sp>
      <p:sp>
        <p:nvSpPr>
          <p:cNvPr id="317" name="Google Shape;317;p8"/>
          <p:cNvSpPr txBox="1"/>
          <p:nvPr/>
        </p:nvSpPr>
        <p:spPr>
          <a:xfrm>
            <a:off x="777240" y="3236976"/>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Thumbs up/down in widget, linked to trace_id — prerequisite for diagnosing 1.0 queries/user</a:t>
            </a:r>
            <a:endParaRPr/>
          </a:p>
        </p:txBody>
      </p:sp>
      <p:sp>
        <p:nvSpPr>
          <p:cNvPr id="318" name="Google Shape;318;p8"/>
          <p:cNvSpPr/>
          <p:nvPr/>
        </p:nvSpPr>
        <p:spPr>
          <a:xfrm>
            <a:off x="365760" y="3712464"/>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A4</a:t>
            </a:r>
            <a:endParaRPr/>
          </a:p>
        </p:txBody>
      </p:sp>
      <p:sp>
        <p:nvSpPr>
          <p:cNvPr id="319" name="Google Shape;319;p8"/>
          <p:cNvSpPr txBox="1"/>
          <p:nvPr/>
        </p:nvSpPr>
        <p:spPr>
          <a:xfrm>
            <a:off x="777240" y="3694176"/>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Prompt/completion logging</a:t>
            </a:r>
            <a:endParaRPr/>
          </a:p>
        </p:txBody>
      </p:sp>
      <p:sp>
        <p:nvSpPr>
          <p:cNvPr id="320" name="Google Shape;320;p8"/>
          <p:cNvSpPr txBox="1"/>
          <p:nvPr/>
        </p:nvSpPr>
        <p:spPr>
          <a:xfrm>
            <a:off x="777240" y="3895344"/>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10% sample to S3 — needed for retrieval audit, eval pipeline, debugging prompt growth</a:t>
            </a:r>
            <a:endParaRPr/>
          </a:p>
        </p:txBody>
      </p:sp>
      <p:sp>
        <p:nvSpPr>
          <p:cNvPr id="321" name="Google Shape;321;p8"/>
          <p:cNvSpPr/>
          <p:nvPr/>
        </p:nvSpPr>
        <p:spPr>
          <a:xfrm>
            <a:off x="365760" y="4370832"/>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A5</a:t>
            </a:r>
            <a:endParaRPr/>
          </a:p>
        </p:txBody>
      </p:sp>
      <p:sp>
        <p:nvSpPr>
          <p:cNvPr id="322" name="Google Shape;322;p8"/>
          <p:cNvSpPr txBox="1"/>
          <p:nvPr/>
        </p:nvSpPr>
        <p:spPr>
          <a:xfrm>
            <a:off x="777240" y="4352544"/>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Quick config fixes</a:t>
            </a:r>
            <a:endParaRPr/>
          </a:p>
        </p:txBody>
      </p:sp>
      <p:sp>
        <p:nvSpPr>
          <p:cNvPr id="323" name="Google Shape;323;p8"/>
          <p:cNvSpPr txBox="1"/>
          <p:nvPr/>
        </p:nvSpPr>
        <p:spPr>
          <a:xfrm>
            <a:off x="777240" y="4553712"/>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Raise max_tokens to 1,024 · Remove tool defs from policy_only · Verify OpenAI tier</a:t>
            </a:r>
            <a:endParaRPr/>
          </a:p>
        </p:txBody>
      </p:sp>
      <p:sp>
        <p:nvSpPr>
          <p:cNvPr id="324" name="Google Shape;324;p8"/>
          <p:cNvSpPr/>
          <p:nvPr/>
        </p:nvSpPr>
        <p:spPr>
          <a:xfrm>
            <a:off x="365760" y="5029200"/>
            <a:ext cx="365760" cy="201168"/>
          </a:xfrm>
          <a:prstGeom prst="roundRect">
            <a:avLst>
              <a:gd fmla="val 16667" name="adj"/>
            </a:avLst>
          </a:prstGeom>
          <a:solidFill>
            <a:srgbClr val="C0392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A6</a:t>
            </a:r>
            <a:endParaRPr/>
          </a:p>
        </p:txBody>
      </p:sp>
      <p:sp>
        <p:nvSpPr>
          <p:cNvPr id="325" name="Google Shape;325;p8"/>
          <p:cNvSpPr txBox="1"/>
          <p:nvPr/>
        </p:nvSpPr>
        <p:spPr>
          <a:xfrm>
            <a:off x="777240" y="501091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Monitoring &amp; alerting</a:t>
            </a:r>
            <a:endParaRPr/>
          </a:p>
        </p:txBody>
      </p:sp>
      <p:sp>
        <p:nvSpPr>
          <p:cNvPr id="326" name="Google Shape;326;p8"/>
          <p:cNvSpPr txBox="1"/>
          <p:nvPr/>
        </p:nvSpPr>
        <p:spPr>
          <a:xfrm>
            <a:off x="777240" y="521208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Alerts for: inv p95 &gt;500ms, error &gt;3%/hr, prompt token drift, any 429 events</a:t>
            </a:r>
            <a:endParaRPr/>
          </a:p>
        </p:txBody>
      </p:sp>
      <p:sp>
        <p:nvSpPr>
          <p:cNvPr id="327" name="Google Shape;327;p8"/>
          <p:cNvSpPr/>
          <p:nvPr/>
        </p:nvSpPr>
        <p:spPr>
          <a:xfrm>
            <a:off x="4069080" y="1143000"/>
            <a:ext cx="3657600" cy="50292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Phase 2: Optimize  |  Weeks 3–6</a:t>
            </a:r>
            <a:endParaRPr/>
          </a:p>
        </p:txBody>
      </p:sp>
      <p:sp>
        <p:nvSpPr>
          <p:cNvPr id="328" name="Google Shape;328;p8"/>
          <p:cNvSpPr/>
          <p:nvPr/>
        </p:nvSpPr>
        <p:spPr>
          <a:xfrm>
            <a:off x="4069080" y="1645920"/>
            <a:ext cx="3657600" cy="4754880"/>
          </a:xfrm>
          <a:prstGeom prst="roundRect">
            <a:avLst>
              <a:gd fmla="val 16667" name="adj"/>
            </a:avLst>
          </a:prstGeom>
          <a:solidFill>
            <a:srgbClr val="FFF3E0"/>
          </a:solidFill>
          <a:ln cap="flat" cmpd="sng" w="12700">
            <a:solidFill>
              <a:srgbClr val="E67E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8"/>
          <p:cNvSpPr/>
          <p:nvPr/>
        </p:nvSpPr>
        <p:spPr>
          <a:xfrm>
            <a:off x="4160520" y="1737360"/>
            <a:ext cx="365760" cy="201168"/>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A7</a:t>
            </a:r>
            <a:endParaRPr/>
          </a:p>
        </p:txBody>
      </p:sp>
      <p:sp>
        <p:nvSpPr>
          <p:cNvPr id="330" name="Google Shape;330;p8"/>
          <p:cNvSpPr txBox="1"/>
          <p:nvPr/>
        </p:nvSpPr>
        <p:spPr>
          <a:xfrm>
            <a:off x="4572000" y="171907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Parallelize retrieval + inventory</a:t>
            </a:r>
            <a:endParaRPr/>
          </a:p>
        </p:txBody>
      </p:sp>
      <p:sp>
        <p:nvSpPr>
          <p:cNvPr id="331" name="Google Shape;331;p8"/>
          <p:cNvSpPr txBox="1"/>
          <p:nvPr/>
        </p:nvSpPr>
        <p:spPr>
          <a:xfrm>
            <a:off x="4572000" y="192024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Promise.all() — saves 70–140ms on 51% of traffic, zero risk</a:t>
            </a:r>
            <a:endParaRPr/>
          </a:p>
        </p:txBody>
      </p:sp>
      <p:sp>
        <p:nvSpPr>
          <p:cNvPr id="332" name="Google Shape;332;p8"/>
          <p:cNvSpPr/>
          <p:nvPr/>
        </p:nvSpPr>
        <p:spPr>
          <a:xfrm>
            <a:off x="4160520" y="2395728"/>
            <a:ext cx="365760" cy="201168"/>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A8</a:t>
            </a:r>
            <a:endParaRPr/>
          </a:p>
        </p:txBody>
      </p:sp>
      <p:sp>
        <p:nvSpPr>
          <p:cNvPr id="333" name="Google Shape;333;p8"/>
          <p:cNvSpPr txBox="1"/>
          <p:nvPr/>
        </p:nvSpPr>
        <p:spPr>
          <a:xfrm>
            <a:off x="4572000" y="2377440"/>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Retrieval chunk budget</a:t>
            </a:r>
            <a:endParaRPr/>
          </a:p>
        </p:txBody>
      </p:sp>
      <p:sp>
        <p:nvSpPr>
          <p:cNvPr id="334" name="Google Shape;334;p8"/>
          <p:cNvSpPr txBox="1"/>
          <p:nvPr/>
        </p:nvSpPr>
        <p:spPr>
          <a:xfrm>
            <a:off x="4572000" y="2578608"/>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Cap at ~800 tokens — predictable size, enables prompt caching</a:t>
            </a:r>
            <a:endParaRPr/>
          </a:p>
        </p:txBody>
      </p:sp>
      <p:sp>
        <p:nvSpPr>
          <p:cNvPr id="335" name="Google Shape;335;p8"/>
          <p:cNvSpPr/>
          <p:nvPr/>
        </p:nvSpPr>
        <p:spPr>
          <a:xfrm>
            <a:off x="4160520" y="3054096"/>
            <a:ext cx="365760" cy="201168"/>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A9</a:t>
            </a:r>
            <a:endParaRPr/>
          </a:p>
        </p:txBody>
      </p:sp>
      <p:sp>
        <p:nvSpPr>
          <p:cNvPr id="336" name="Google Shape;336;p8"/>
          <p:cNvSpPr txBox="1"/>
          <p:nvPr/>
        </p:nvSpPr>
        <p:spPr>
          <a:xfrm>
            <a:off x="4572000" y="3035808"/>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Enable OpenAI prompt caching</a:t>
            </a:r>
            <a:endParaRPr/>
          </a:p>
        </p:txBody>
      </p:sp>
      <p:sp>
        <p:nvSpPr>
          <p:cNvPr id="337" name="Google Shape;337;p8"/>
          <p:cNvSpPr txBox="1"/>
          <p:nvPr/>
        </p:nvSpPr>
        <p:spPr>
          <a:xfrm>
            <a:off x="4572000" y="3236976"/>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50% discount, 80% faster TTFT — requires static prefix structure</a:t>
            </a:r>
            <a:endParaRPr/>
          </a:p>
        </p:txBody>
      </p:sp>
      <p:sp>
        <p:nvSpPr>
          <p:cNvPr id="338" name="Google Shape;338;p8"/>
          <p:cNvSpPr/>
          <p:nvPr/>
        </p:nvSpPr>
        <p:spPr>
          <a:xfrm>
            <a:off x="4160526" y="3712479"/>
            <a:ext cx="411600" cy="27420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A10</a:t>
            </a:r>
            <a:endParaRPr/>
          </a:p>
        </p:txBody>
      </p:sp>
      <p:sp>
        <p:nvSpPr>
          <p:cNvPr id="339" name="Google Shape;339;p8"/>
          <p:cNvSpPr txBox="1"/>
          <p:nvPr/>
        </p:nvSpPr>
        <p:spPr>
          <a:xfrm>
            <a:off x="4572000" y="3694176"/>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Model routing evaluation</a:t>
            </a:r>
            <a:endParaRPr/>
          </a:p>
        </p:txBody>
      </p:sp>
      <p:sp>
        <p:nvSpPr>
          <p:cNvPr id="340" name="Google Shape;340;p8"/>
          <p:cNvSpPr txBox="1"/>
          <p:nvPr/>
        </p:nvSpPr>
        <p:spPr>
          <a:xfrm>
            <a:off x="4572000" y="3895344"/>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GPT-4o-mini for policy_only (94% cheaper) — only if eval shows &lt;5% quality drop</a:t>
            </a:r>
            <a:endParaRPr/>
          </a:p>
        </p:txBody>
      </p:sp>
      <p:sp>
        <p:nvSpPr>
          <p:cNvPr id="341" name="Google Shape;341;p8"/>
          <p:cNvSpPr/>
          <p:nvPr/>
        </p:nvSpPr>
        <p:spPr>
          <a:xfrm>
            <a:off x="4160525" y="4370822"/>
            <a:ext cx="411600" cy="27420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A13</a:t>
            </a:r>
            <a:endParaRPr/>
          </a:p>
        </p:txBody>
      </p:sp>
      <p:sp>
        <p:nvSpPr>
          <p:cNvPr id="342" name="Google Shape;342;p8"/>
          <p:cNvSpPr txBox="1"/>
          <p:nvPr/>
        </p:nvSpPr>
        <p:spPr>
          <a:xfrm>
            <a:off x="4572000" y="4352544"/>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Shared caching (Redis)</a:t>
            </a:r>
            <a:endParaRPr/>
          </a:p>
        </p:txBody>
      </p:sp>
      <p:sp>
        <p:nvSpPr>
          <p:cNvPr id="343" name="Google Shape;343;p8"/>
          <p:cNvSpPr txBox="1"/>
          <p:nvPr/>
        </p:nvSpPr>
        <p:spPr>
          <a:xfrm>
            <a:off x="4572000" y="4553712"/>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Embedding sim ≥0.95 for policy (6–24hr TTL), product+store for inventory (10min TTL)</a:t>
            </a:r>
            <a:endParaRPr/>
          </a:p>
        </p:txBody>
      </p:sp>
      <p:sp>
        <p:nvSpPr>
          <p:cNvPr id="344" name="Google Shape;344;p8"/>
          <p:cNvSpPr/>
          <p:nvPr/>
        </p:nvSpPr>
        <p:spPr>
          <a:xfrm>
            <a:off x="4160525" y="5029200"/>
            <a:ext cx="411600" cy="228600"/>
          </a:xfrm>
          <a:prstGeom prst="roundRect">
            <a:avLst>
              <a:gd fmla="val 16667" name="adj"/>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A14</a:t>
            </a:r>
            <a:endParaRPr/>
          </a:p>
        </p:txBody>
      </p:sp>
      <p:sp>
        <p:nvSpPr>
          <p:cNvPr id="345" name="Google Shape;345;p8"/>
          <p:cNvSpPr txBox="1"/>
          <p:nvPr/>
        </p:nvSpPr>
        <p:spPr>
          <a:xfrm>
            <a:off x="4572000" y="501091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Error classification + retries</a:t>
            </a:r>
            <a:endParaRPr/>
          </a:p>
        </p:txBody>
      </p:sp>
      <p:sp>
        <p:nvSpPr>
          <p:cNvPr id="346" name="Google Shape;346;p8"/>
          <p:cNvSpPr txBox="1"/>
          <p:nvPr/>
        </p:nvSpPr>
        <p:spPr>
          <a:xfrm>
            <a:off x="4572000" y="521208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429→backoff, 500→retry+jitter, 400→fail fast to graceful degradation</a:t>
            </a:r>
            <a:endParaRPr/>
          </a:p>
        </p:txBody>
      </p:sp>
      <p:sp>
        <p:nvSpPr>
          <p:cNvPr id="347" name="Google Shape;347;p8"/>
          <p:cNvSpPr/>
          <p:nvPr/>
        </p:nvSpPr>
        <p:spPr>
          <a:xfrm>
            <a:off x="7863840" y="1143000"/>
            <a:ext cx="3657600" cy="50292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Phase 3: Expand  |  Weeks 7–12</a:t>
            </a:r>
            <a:endParaRPr/>
          </a:p>
        </p:txBody>
      </p:sp>
      <p:sp>
        <p:nvSpPr>
          <p:cNvPr id="348" name="Google Shape;348;p8"/>
          <p:cNvSpPr/>
          <p:nvPr/>
        </p:nvSpPr>
        <p:spPr>
          <a:xfrm>
            <a:off x="7863840" y="1645920"/>
            <a:ext cx="3657600" cy="4754880"/>
          </a:xfrm>
          <a:prstGeom prst="roundRect">
            <a:avLst>
              <a:gd fmla="val 16667" name="adj"/>
            </a:avLst>
          </a:prstGeom>
          <a:solidFill>
            <a:srgbClr val="EAF2FA"/>
          </a:solidFill>
          <a:ln cap="flat" cmpd="sng" w="12700">
            <a:solidFill>
              <a:srgbClr val="3498D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8"/>
          <p:cNvSpPr/>
          <p:nvPr/>
        </p:nvSpPr>
        <p:spPr>
          <a:xfrm>
            <a:off x="7955275" y="1737350"/>
            <a:ext cx="411600" cy="27420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A15</a:t>
            </a:r>
            <a:endParaRPr/>
          </a:p>
        </p:txBody>
      </p:sp>
      <p:sp>
        <p:nvSpPr>
          <p:cNvPr id="350" name="Google Shape;350;p8"/>
          <p:cNvSpPr txBox="1"/>
          <p:nvPr/>
        </p:nvSpPr>
        <p:spPr>
          <a:xfrm>
            <a:off x="8366760" y="171907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Evaluation framework</a:t>
            </a:r>
            <a:endParaRPr/>
          </a:p>
        </p:txBody>
      </p:sp>
      <p:sp>
        <p:nvSpPr>
          <p:cNvPr id="351" name="Google Shape;351;p8"/>
          <p:cNvSpPr txBox="1"/>
          <p:nvPr/>
        </p:nvSpPr>
        <p:spPr>
          <a:xfrm>
            <a:off x="8366760" y="192024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200+ golden Q&amp;A pairs, model-graded evals, gates all deployments</a:t>
            </a:r>
            <a:endParaRPr/>
          </a:p>
        </p:txBody>
      </p:sp>
      <p:sp>
        <p:nvSpPr>
          <p:cNvPr id="352" name="Google Shape;352;p8"/>
          <p:cNvSpPr/>
          <p:nvPr/>
        </p:nvSpPr>
        <p:spPr>
          <a:xfrm>
            <a:off x="7955274" y="2395724"/>
            <a:ext cx="411600" cy="22860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A16</a:t>
            </a:r>
            <a:endParaRPr/>
          </a:p>
        </p:txBody>
      </p:sp>
      <p:sp>
        <p:nvSpPr>
          <p:cNvPr id="353" name="Google Shape;353;p8"/>
          <p:cNvSpPr txBox="1"/>
          <p:nvPr/>
        </p:nvSpPr>
        <p:spPr>
          <a:xfrm>
            <a:off x="8366760" y="2377440"/>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Streaming end-to-end</a:t>
            </a:r>
            <a:endParaRPr/>
          </a:p>
        </p:txBody>
      </p:sp>
      <p:sp>
        <p:nvSpPr>
          <p:cNvPr id="354" name="Google Shape;354;p8"/>
          <p:cNvSpPr txBox="1"/>
          <p:nvPr/>
        </p:nvSpPr>
        <p:spPr>
          <a:xfrm>
            <a:off x="8366760" y="2578608"/>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TTFT: ~1,000ms → ~150ms — biggest single UX improvement</a:t>
            </a:r>
            <a:endParaRPr/>
          </a:p>
        </p:txBody>
      </p:sp>
      <p:sp>
        <p:nvSpPr>
          <p:cNvPr id="355" name="Google Shape;355;p8"/>
          <p:cNvSpPr/>
          <p:nvPr/>
        </p:nvSpPr>
        <p:spPr>
          <a:xfrm>
            <a:off x="7955274" y="3054100"/>
            <a:ext cx="411600" cy="20130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A17</a:t>
            </a:r>
            <a:endParaRPr/>
          </a:p>
        </p:txBody>
      </p:sp>
      <p:sp>
        <p:nvSpPr>
          <p:cNvPr id="356" name="Google Shape;356;p8"/>
          <p:cNvSpPr txBox="1"/>
          <p:nvPr/>
        </p:nvSpPr>
        <p:spPr>
          <a:xfrm>
            <a:off x="8366760" y="3035808"/>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Lambda concurrency increase</a:t>
            </a:r>
            <a:endParaRPr/>
          </a:p>
        </p:txBody>
      </p:sp>
      <p:sp>
        <p:nvSpPr>
          <p:cNvPr id="357" name="Google Shape;357;p8"/>
          <p:cNvSpPr txBox="1"/>
          <p:nvPr/>
        </p:nvSpPr>
        <p:spPr>
          <a:xfrm>
            <a:off x="8366760" y="3236976"/>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Current peak ~420, 4× = ~1,680 (above 1,000 default). Provisioned: 350–400 for peaks.</a:t>
            </a:r>
            <a:endParaRPr/>
          </a:p>
        </p:txBody>
      </p:sp>
      <p:sp>
        <p:nvSpPr>
          <p:cNvPr id="358" name="Google Shape;358;p8"/>
          <p:cNvSpPr/>
          <p:nvPr/>
        </p:nvSpPr>
        <p:spPr>
          <a:xfrm>
            <a:off x="7955274" y="3712478"/>
            <a:ext cx="411600" cy="22860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A19</a:t>
            </a:r>
            <a:endParaRPr/>
          </a:p>
        </p:txBody>
      </p:sp>
      <p:sp>
        <p:nvSpPr>
          <p:cNvPr id="359" name="Google Shape;359;p8"/>
          <p:cNvSpPr txBox="1"/>
          <p:nvPr/>
        </p:nvSpPr>
        <p:spPr>
          <a:xfrm>
            <a:off x="8366760" y="3694176"/>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Per-team cost attribution</a:t>
            </a:r>
            <a:endParaRPr/>
          </a:p>
        </p:txBody>
      </p:sp>
      <p:sp>
        <p:nvSpPr>
          <p:cNvPr id="360" name="Google Shape;360;p8"/>
          <p:cNvSpPr txBox="1"/>
          <p:nvPr/>
        </p:nvSpPr>
        <p:spPr>
          <a:xfrm>
            <a:off x="8366760" y="3895344"/>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Separate API keys/projects per team with budget controls</a:t>
            </a:r>
            <a:endParaRPr/>
          </a:p>
        </p:txBody>
      </p:sp>
      <p:sp>
        <p:nvSpPr>
          <p:cNvPr id="361" name="Google Shape;361;p8"/>
          <p:cNvSpPr/>
          <p:nvPr/>
        </p:nvSpPr>
        <p:spPr>
          <a:xfrm>
            <a:off x="7955274" y="4370824"/>
            <a:ext cx="473100" cy="228600"/>
          </a:xfrm>
          <a:prstGeom prst="roundRect">
            <a:avLst>
              <a:gd fmla="val 16667" name="adj"/>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800" u="none" cap="none" strike="noStrike">
                <a:solidFill>
                  <a:srgbClr val="FFFFFF"/>
                </a:solidFill>
                <a:latin typeface="Calibri"/>
                <a:ea typeface="Calibri"/>
                <a:cs typeface="Calibri"/>
                <a:sym typeface="Calibri"/>
              </a:rPr>
              <a:t>A20</a:t>
            </a:r>
            <a:endParaRPr/>
          </a:p>
        </p:txBody>
      </p:sp>
      <p:sp>
        <p:nvSpPr>
          <p:cNvPr id="362" name="Google Shape;362;p8"/>
          <p:cNvSpPr txBox="1"/>
          <p:nvPr/>
        </p:nvSpPr>
        <p:spPr>
          <a:xfrm>
            <a:off x="8366760" y="4352544"/>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Load test at 4× volume</a:t>
            </a:r>
            <a:endParaRPr/>
          </a:p>
        </p:txBody>
      </p:sp>
      <p:sp>
        <p:nvSpPr>
          <p:cNvPr id="363" name="Google Shape;363;p8"/>
          <p:cNvSpPr txBox="1"/>
          <p:nvPr/>
        </p:nvSpPr>
        <p:spPr>
          <a:xfrm>
            <a:off x="8366760" y="4553712"/>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Validate all components handle increased concurrency during simulated peak</a:t>
            </a:r>
            <a:endParaRPr/>
          </a:p>
        </p:txBody>
      </p:sp>
      <p:sp>
        <p:nvSpPr>
          <p:cNvPr id="364" name="Google Shape;364;p8"/>
          <p:cNvSpPr txBox="1"/>
          <p:nvPr/>
        </p:nvSpPr>
        <p:spPr>
          <a:xfrm>
            <a:off x="8366760" y="5010912"/>
            <a:ext cx="3063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A1A2E"/>
                </a:solidFill>
                <a:latin typeface="Calibri"/>
                <a:ea typeface="Calibri"/>
                <a:cs typeface="Calibri"/>
                <a:sym typeface="Calibri"/>
              </a:rPr>
              <a:t>Pilot → Full expansion</a:t>
            </a:r>
            <a:endParaRPr/>
          </a:p>
        </p:txBody>
      </p:sp>
      <p:sp>
        <p:nvSpPr>
          <p:cNvPr id="365" name="Google Shape;365;p8"/>
          <p:cNvSpPr txBox="1"/>
          <p:nvPr/>
        </p:nvSpPr>
        <p:spPr>
          <a:xfrm>
            <a:off x="8366760" y="5212080"/>
            <a:ext cx="306324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Calibri"/>
                <a:ea typeface="Calibri"/>
                <a:cs typeface="Calibri"/>
                <a:sym typeface="Calibri"/>
              </a:rPr>
              <a:t>Onboard one team, monitor 1 week, then expand to remaining two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9"/>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9"/>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Proposed Architecture</a:t>
            </a:r>
            <a:endParaRPr/>
          </a:p>
        </p:txBody>
      </p:sp>
      <p:sp>
        <p:nvSpPr>
          <p:cNvPr id="373" name="Google Shape;373;p9"/>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Every Problem Addressed  ·  No Rewrite — Targeted, Incremental Changes</a:t>
            </a:r>
            <a:endParaRPr/>
          </a:p>
        </p:txBody>
      </p:sp>
      <p:sp>
        <p:nvSpPr>
          <p:cNvPr id="374" name="Google Shape;374;p9"/>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9"/>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9/10</a:t>
            </a:r>
            <a:endParaRPr/>
          </a:p>
        </p:txBody>
      </p:sp>
      <p:sp>
        <p:nvSpPr>
          <p:cNvPr id="376" name="Google Shape;376;p9"/>
          <p:cNvSpPr/>
          <p:nvPr/>
        </p:nvSpPr>
        <p:spPr>
          <a:xfrm>
            <a:off x="274320" y="1463040"/>
            <a:ext cx="1554480" cy="1828800"/>
          </a:xfrm>
          <a:prstGeom prst="roundRect">
            <a:avLst>
              <a:gd fmla="val 16667" name="adj"/>
            </a:avLst>
          </a:prstGeom>
          <a:solidFill>
            <a:srgbClr val="EAFAF1"/>
          </a:solidFill>
          <a:ln cap="flat" cmpd="sng" w="254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27AE60"/>
                </a:solidFill>
                <a:latin typeface="Calibri"/>
                <a:ea typeface="Calibri"/>
                <a:cs typeface="Calibri"/>
                <a:sym typeface="Calibri"/>
              </a:rPr>
              <a:t>Employee Widget</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(OneStore)</a:t>
            </a:r>
            <a:endParaRPr/>
          </a:p>
          <a:p>
            <a:pPr indent="0" lvl="0" marL="0" marR="0" rtl="0" algn="l">
              <a:spcBef>
                <a:spcPts val="400"/>
              </a:spcBef>
              <a:spcAft>
                <a:spcPts val="0"/>
              </a:spcAft>
              <a:buNone/>
            </a:pPr>
            <a:r>
              <a:t/>
            </a:r>
            <a:endParaRPr b="0" i="0" sz="10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Streaming display</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Thumbs up/down</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Source citations</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Friendly errors</a:t>
            </a:r>
            <a:endParaRPr/>
          </a:p>
        </p:txBody>
      </p:sp>
      <p:sp>
        <p:nvSpPr>
          <p:cNvPr id="377" name="Google Shape;377;p9"/>
          <p:cNvSpPr/>
          <p:nvPr/>
        </p:nvSpPr>
        <p:spPr>
          <a:xfrm>
            <a:off x="2103120" y="1828800"/>
            <a:ext cx="1371600" cy="1005840"/>
          </a:xfrm>
          <a:prstGeom prst="roundRect">
            <a:avLst>
              <a:gd fmla="val 16667" name="adj"/>
            </a:avLst>
          </a:prstGeom>
          <a:solidFill>
            <a:srgbClr val="EAFAF1"/>
          </a:solidFill>
          <a:ln cap="flat" cmpd="sng" w="1905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27AE60"/>
                </a:solidFill>
                <a:latin typeface="Calibri"/>
                <a:ea typeface="Calibri"/>
                <a:cs typeface="Calibri"/>
                <a:sym typeface="Calibri"/>
              </a:rPr>
              <a:t>Lambda Fn URL</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Response streaming</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SSE support</a:t>
            </a:r>
            <a:endParaRPr/>
          </a:p>
        </p:txBody>
      </p:sp>
      <p:cxnSp>
        <p:nvCxnSpPr>
          <p:cNvPr id="378" name="Google Shape;378;p9"/>
          <p:cNvCxnSpPr/>
          <p:nvPr/>
        </p:nvCxnSpPr>
        <p:spPr>
          <a:xfrm>
            <a:off x="1828800" y="2331720"/>
            <a:ext cx="274320" cy="0"/>
          </a:xfrm>
          <a:prstGeom prst="straightConnector1">
            <a:avLst/>
          </a:prstGeom>
          <a:noFill/>
          <a:ln cap="flat" cmpd="sng" w="25400">
            <a:solidFill>
              <a:srgbClr val="27AE60"/>
            </a:solidFill>
            <a:prstDash val="solid"/>
            <a:round/>
            <a:headEnd len="sm" w="sm" type="none"/>
            <a:tailEnd len="sm" w="sm" type="none"/>
          </a:ln>
          <a:effectLst>
            <a:outerShdw blurRad="40000" rotWithShape="0" dir="5400000" dist="20000">
              <a:srgbClr val="000000">
                <a:alpha val="38039"/>
              </a:srgbClr>
            </a:outerShdw>
          </a:effectLst>
        </p:spPr>
      </p:cxnSp>
      <p:sp>
        <p:nvSpPr>
          <p:cNvPr id="379" name="Google Shape;379;p9"/>
          <p:cNvSpPr txBox="1"/>
          <p:nvPr/>
        </p:nvSpPr>
        <p:spPr>
          <a:xfrm>
            <a:off x="1828800" y="2057400"/>
            <a:ext cx="457200"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 u="none" cap="none" strike="noStrike">
                <a:solidFill>
                  <a:srgbClr val="27AE60"/>
                </a:solidFill>
                <a:latin typeface="Calibri"/>
                <a:ea typeface="Calibri"/>
                <a:cs typeface="Calibri"/>
                <a:sym typeface="Calibri"/>
              </a:rPr>
              <a:t>SSE</a:t>
            </a:r>
            <a:endParaRPr/>
          </a:p>
        </p:txBody>
      </p:sp>
      <p:cxnSp>
        <p:nvCxnSpPr>
          <p:cNvPr id="380" name="Google Shape;380;p9"/>
          <p:cNvCxnSpPr/>
          <p:nvPr/>
        </p:nvCxnSpPr>
        <p:spPr>
          <a:xfrm>
            <a:off x="3474720" y="2331720"/>
            <a:ext cx="320040" cy="0"/>
          </a:xfrm>
          <a:prstGeom prst="straightConnector1">
            <a:avLst/>
          </a:prstGeom>
          <a:noFill/>
          <a:ln cap="flat" cmpd="sng" w="25400">
            <a:solidFill>
              <a:srgbClr val="555555"/>
            </a:solidFill>
            <a:prstDash val="solid"/>
            <a:round/>
            <a:headEnd len="sm" w="sm" type="none"/>
            <a:tailEnd len="sm" w="sm" type="none"/>
          </a:ln>
          <a:effectLst>
            <a:outerShdw blurRad="40000" rotWithShape="0" dir="5400000" dist="20000">
              <a:srgbClr val="000000">
                <a:alpha val="38039"/>
              </a:srgbClr>
            </a:outerShdw>
          </a:effectLst>
        </p:spPr>
      </p:cxnSp>
      <p:sp>
        <p:nvSpPr>
          <p:cNvPr id="381" name="Google Shape;381;p9"/>
          <p:cNvSpPr/>
          <p:nvPr/>
        </p:nvSpPr>
        <p:spPr>
          <a:xfrm>
            <a:off x="3794760" y="1188720"/>
            <a:ext cx="8092440" cy="3931920"/>
          </a:xfrm>
          <a:prstGeom prst="roundRect">
            <a:avLst>
              <a:gd fmla="val 16667" name="adj"/>
            </a:avLst>
          </a:prstGeom>
          <a:solidFill>
            <a:srgbClr val="FFFFFF"/>
          </a:solidFill>
          <a:ln cap="flat" cmpd="sng" w="3175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9"/>
          <p:cNvSpPr txBox="1"/>
          <p:nvPr/>
        </p:nvSpPr>
        <p:spPr>
          <a:xfrm>
            <a:off x="4023360" y="1280160"/>
            <a:ext cx="75895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27AE60"/>
                </a:solidFill>
                <a:latin typeface="Calibri"/>
                <a:ea typeface="Calibri"/>
                <a:cs typeface="Calibri"/>
                <a:sym typeface="Calibri"/>
              </a:rPr>
              <a:t>Lambda (Node.js) — Enhanced</a:t>
            </a:r>
            <a:endParaRPr/>
          </a:p>
        </p:txBody>
      </p:sp>
      <p:sp>
        <p:nvSpPr>
          <p:cNvPr id="383" name="Google Shape;383;p9"/>
          <p:cNvSpPr/>
          <p:nvPr/>
        </p:nvSpPr>
        <p:spPr>
          <a:xfrm>
            <a:off x="4023360" y="1645920"/>
            <a:ext cx="5303520" cy="13716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9"/>
          <p:cNvSpPr txBox="1"/>
          <p:nvPr/>
        </p:nvSpPr>
        <p:spPr>
          <a:xfrm>
            <a:off x="5029200" y="1664208"/>
            <a:ext cx="3200400" cy="228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27AE60"/>
                </a:solidFill>
                <a:latin typeface="Calibri"/>
                <a:ea typeface="Calibri"/>
                <a:cs typeface="Calibri"/>
                <a:sym typeface="Calibri"/>
              </a:rPr>
              <a:t>PARALLEL EXECUTION — Promise.all()</a:t>
            </a:r>
            <a:endParaRPr/>
          </a:p>
        </p:txBody>
      </p:sp>
      <p:sp>
        <p:nvSpPr>
          <p:cNvPr id="385" name="Google Shape;385;p9"/>
          <p:cNvSpPr/>
          <p:nvPr/>
        </p:nvSpPr>
        <p:spPr>
          <a:xfrm>
            <a:off x="4206240" y="1965960"/>
            <a:ext cx="2286000" cy="868680"/>
          </a:xfrm>
          <a:prstGeom prst="roundRect">
            <a:avLst>
              <a:gd fmla="val 16667" name="adj"/>
            </a:avLst>
          </a:prstGeom>
          <a:solidFill>
            <a:srgbClr val="FFFFFF"/>
          </a:solidFill>
          <a:ln cap="flat" cmpd="sng" w="1905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27AE60"/>
                </a:solidFill>
                <a:latin typeface="Calibri"/>
                <a:ea typeface="Calibri"/>
                <a:cs typeface="Calibri"/>
                <a:sym typeface="Calibri"/>
              </a:rPr>
              <a:t>Retrieval</a:t>
            </a:r>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Vector Store + chunk budget</a:t>
            </a:r>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70ms avg  |  0% errors</a:t>
            </a:r>
            <a:endParaRPr/>
          </a:p>
        </p:txBody>
      </p:sp>
      <p:sp>
        <p:nvSpPr>
          <p:cNvPr id="386" name="Google Shape;386;p9"/>
          <p:cNvSpPr/>
          <p:nvPr/>
        </p:nvSpPr>
        <p:spPr>
          <a:xfrm>
            <a:off x="6766560" y="1965960"/>
            <a:ext cx="2286000" cy="868680"/>
          </a:xfrm>
          <a:prstGeom prst="roundRect">
            <a:avLst>
              <a:gd fmla="val 16667" name="adj"/>
            </a:avLst>
          </a:prstGeom>
          <a:solidFill>
            <a:srgbClr val="FFFFFF"/>
          </a:solidFill>
          <a:ln cap="flat" cmpd="sng" w="19050">
            <a:solidFill>
              <a:srgbClr val="E67E2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E67E22"/>
                </a:solidFill>
                <a:latin typeface="Calibri"/>
                <a:ea typeface="Calibri"/>
                <a:cs typeface="Calibri"/>
                <a:sym typeface="Calibri"/>
              </a:rPr>
              <a:t>Inventory</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Circuit breaker</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Graceful degradation</a:t>
            </a:r>
            <a:endParaRPr/>
          </a:p>
        </p:txBody>
      </p:sp>
      <p:cxnSp>
        <p:nvCxnSpPr>
          <p:cNvPr id="387" name="Google Shape;387;p9"/>
          <p:cNvCxnSpPr/>
          <p:nvPr/>
        </p:nvCxnSpPr>
        <p:spPr>
          <a:xfrm>
            <a:off x="5349240" y="2834640"/>
            <a:ext cx="685800" cy="365760"/>
          </a:xfrm>
          <a:prstGeom prst="straightConnector1">
            <a:avLst/>
          </a:prstGeom>
          <a:noFill/>
          <a:ln cap="flat" cmpd="sng" w="19050">
            <a:solidFill>
              <a:srgbClr val="27AE60"/>
            </a:solidFill>
            <a:prstDash val="solid"/>
            <a:round/>
            <a:headEnd len="sm" w="sm" type="none"/>
            <a:tailEnd len="sm" w="sm" type="none"/>
          </a:ln>
          <a:effectLst>
            <a:outerShdw blurRad="40000" rotWithShape="0" dir="5400000" dist="20000">
              <a:srgbClr val="000000">
                <a:alpha val="38039"/>
              </a:srgbClr>
            </a:outerShdw>
          </a:effectLst>
        </p:spPr>
      </p:cxnSp>
      <p:cxnSp>
        <p:nvCxnSpPr>
          <p:cNvPr id="388" name="Google Shape;388;p9"/>
          <p:cNvCxnSpPr/>
          <p:nvPr/>
        </p:nvCxnSpPr>
        <p:spPr>
          <a:xfrm flipH="1">
            <a:off x="7223760" y="2834640"/>
            <a:ext cx="685800" cy="365760"/>
          </a:xfrm>
          <a:prstGeom prst="straightConnector1">
            <a:avLst/>
          </a:prstGeom>
          <a:noFill/>
          <a:ln cap="flat" cmpd="sng" w="19050">
            <a:solidFill>
              <a:srgbClr val="E67E22"/>
            </a:solidFill>
            <a:prstDash val="solid"/>
            <a:round/>
            <a:headEnd len="sm" w="sm" type="none"/>
            <a:tailEnd len="sm" w="sm" type="none"/>
          </a:ln>
          <a:effectLst>
            <a:outerShdw blurRad="40000" rotWithShape="0" dir="5400000" dist="20000">
              <a:srgbClr val="000000">
                <a:alpha val="38039"/>
              </a:srgbClr>
            </a:outerShdw>
          </a:effectLst>
        </p:spPr>
      </p:cxnSp>
      <p:sp>
        <p:nvSpPr>
          <p:cNvPr id="389" name="Google Shape;389;p9"/>
          <p:cNvSpPr/>
          <p:nvPr/>
        </p:nvSpPr>
        <p:spPr>
          <a:xfrm>
            <a:off x="4846320" y="3200400"/>
            <a:ext cx="3566160" cy="1645920"/>
          </a:xfrm>
          <a:prstGeom prst="roundRect">
            <a:avLst>
              <a:gd fmla="val 16667" name="adj"/>
            </a:avLst>
          </a:prstGeom>
          <a:solidFill>
            <a:srgbClr val="EAF2FA"/>
          </a:solidFill>
          <a:ln cap="flat" cmpd="sng" w="19050">
            <a:solidFill>
              <a:srgbClr val="3498D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3498DB"/>
                </a:solidFill>
                <a:latin typeface="Calibri"/>
                <a:ea typeface="Calibri"/>
                <a:cs typeface="Calibri"/>
                <a:sym typeface="Calibri"/>
              </a:rPr>
              <a:t>OpenAI GPT-4o / 4o-mini</a:t>
            </a:r>
            <a:endParaRPr/>
          </a:p>
          <a:p>
            <a:pPr indent="0" lvl="0" marL="0" marR="0" rtl="0" algn="l">
              <a:spcBef>
                <a:spcPts val="400"/>
              </a:spcBef>
              <a:spcAft>
                <a:spcPts val="0"/>
              </a:spcAft>
              <a:buNone/>
            </a:pPr>
            <a:r>
              <a:t/>
            </a:r>
            <a:endParaRPr b="1" i="0" sz="1400" u="none" cap="none" strike="noStrike">
              <a:solidFill>
                <a:srgbClr val="3498DB"/>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stream: true         ✓ model routing</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prompt caching (static prefix)</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max_tokens: 1024   ✓ strict: true</a:t>
            </a:r>
            <a:endParaRPr/>
          </a:p>
          <a:p>
            <a:pPr indent="0" lvl="0" marL="0" marR="0" rtl="0" algn="ctr">
              <a:spcBef>
                <a:spcPts val="400"/>
              </a:spcBef>
              <a:spcAft>
                <a:spcPts val="0"/>
              </a:spcAft>
              <a:buNone/>
            </a:pPr>
            <a:r>
              <a:rPr b="1" i="0" lang="en-US" sz="900" u="none" cap="none" strike="noStrike">
                <a:solidFill>
                  <a:srgbClr val="27AE60"/>
                </a:solidFill>
                <a:latin typeface="Calibri"/>
                <a:ea typeface="Calibri"/>
                <a:cs typeface="Calibri"/>
                <a:sym typeface="Calibri"/>
              </a:rPr>
              <a:t>✓ error classification   ✓ backoff + jitter</a:t>
            </a:r>
            <a:endParaRPr/>
          </a:p>
        </p:txBody>
      </p:sp>
      <p:sp>
        <p:nvSpPr>
          <p:cNvPr id="390" name="Google Shape;390;p9"/>
          <p:cNvSpPr/>
          <p:nvPr/>
        </p:nvSpPr>
        <p:spPr>
          <a:xfrm>
            <a:off x="9601200" y="1645920"/>
            <a:ext cx="2103120" cy="13716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27AE60"/>
                </a:solidFill>
                <a:latin typeface="Calibri"/>
                <a:ea typeface="Calibri"/>
                <a:cs typeface="Calibri"/>
                <a:sym typeface="Calibri"/>
              </a:rPr>
              <a:t>Lambda Upgrades</a:t>
            </a:r>
            <a:endParaRPr/>
          </a:p>
          <a:p>
            <a:pPr indent="0" lvl="0" marL="0" marR="0" rtl="0" algn="l">
              <a:spcBef>
                <a:spcPts val="400"/>
              </a:spcBef>
              <a:spcAft>
                <a:spcPts val="0"/>
              </a:spcAft>
              <a:buNone/>
            </a:pPr>
            <a:r>
              <a:t/>
            </a:r>
            <a:endParaRPr b="1" i="0" sz="1000" u="none" cap="none" strike="noStrike">
              <a:solidFill>
                <a:srgbClr val="27AE60"/>
              </a:solidFill>
              <a:latin typeface="Calibri"/>
              <a:ea typeface="Calibri"/>
              <a:cs typeface="Calibri"/>
              <a:sym typeface="Calibri"/>
            </a:endParaRPr>
          </a:p>
          <a:p>
            <a:pPr indent="0" lvl="0" marL="0" marR="0" rtl="0" algn="ctr">
              <a:spcBef>
                <a:spcPts val="400"/>
              </a:spcBef>
              <a:spcAft>
                <a:spcPts val="0"/>
              </a:spcAft>
              <a:buNone/>
            </a:pPr>
            <a:r>
              <a:rPr b="1" i="0" lang="en-US" sz="800" u="none" cap="none" strike="noStrike">
                <a:solidFill>
                  <a:srgbClr val="27AE60"/>
                </a:solidFill>
                <a:latin typeface="Calibri"/>
                <a:ea typeface="Calibri"/>
                <a:cs typeface="Calibri"/>
                <a:sym typeface="Calibri"/>
              </a:rPr>
              <a:t>✓ Provisioned concurrency</a:t>
            </a:r>
            <a:endParaRPr/>
          </a:p>
          <a:p>
            <a:pPr indent="0" lvl="0" marL="0" marR="0" rtl="0" algn="ctr">
              <a:spcBef>
                <a:spcPts val="400"/>
              </a:spcBef>
              <a:spcAft>
                <a:spcPts val="0"/>
              </a:spcAft>
              <a:buNone/>
            </a:pPr>
            <a:r>
              <a:rPr b="1" i="0" lang="en-US" sz="800" u="none" cap="none" strike="noStrike">
                <a:solidFill>
                  <a:srgbClr val="27AE60"/>
                </a:solidFill>
                <a:latin typeface="Calibri"/>
                <a:ea typeface="Calibri"/>
                <a:cs typeface="Calibri"/>
                <a:sym typeface="Calibri"/>
              </a:rPr>
              <a:t>✓ Circuit breakers</a:t>
            </a:r>
            <a:endParaRPr/>
          </a:p>
          <a:p>
            <a:pPr indent="0" lvl="0" marL="0" marR="0" rtl="0" algn="ctr">
              <a:spcBef>
                <a:spcPts val="400"/>
              </a:spcBef>
              <a:spcAft>
                <a:spcPts val="0"/>
              </a:spcAft>
              <a:buNone/>
            </a:pPr>
            <a:r>
              <a:rPr b="1" i="0" lang="en-US" sz="800" u="none" cap="none" strike="noStrike">
                <a:solidFill>
                  <a:srgbClr val="27AE60"/>
                </a:solidFill>
                <a:latin typeface="Calibri"/>
                <a:ea typeface="Calibri"/>
                <a:cs typeface="Calibri"/>
                <a:sym typeface="Calibri"/>
              </a:rPr>
              <a:t>✓ Graceful degradation</a:t>
            </a:r>
            <a:endParaRPr/>
          </a:p>
          <a:p>
            <a:pPr indent="0" lvl="0" marL="0" marR="0" rtl="0" algn="ctr">
              <a:spcBef>
                <a:spcPts val="400"/>
              </a:spcBef>
              <a:spcAft>
                <a:spcPts val="0"/>
              </a:spcAft>
              <a:buNone/>
            </a:pPr>
            <a:r>
              <a:rPr b="1" i="0" lang="en-US" sz="800" u="none" cap="none" strike="noStrike">
                <a:solidFill>
                  <a:srgbClr val="27AE60"/>
                </a:solidFill>
                <a:latin typeface="Calibri"/>
                <a:ea typeface="Calibri"/>
                <a:cs typeface="Calibri"/>
                <a:sym typeface="Calibri"/>
              </a:rPr>
              <a:t>✓ Logging (10% → S3)</a:t>
            </a:r>
            <a:endParaRPr/>
          </a:p>
        </p:txBody>
      </p:sp>
      <p:sp>
        <p:nvSpPr>
          <p:cNvPr id="391" name="Google Shape;391;p9"/>
          <p:cNvSpPr/>
          <p:nvPr/>
        </p:nvSpPr>
        <p:spPr>
          <a:xfrm>
            <a:off x="9601200" y="3200400"/>
            <a:ext cx="2103120" cy="1371600"/>
          </a:xfrm>
          <a:prstGeom prst="roundRect">
            <a:avLst>
              <a:gd fmla="val 16667" name="adj"/>
            </a:avLst>
          </a:prstGeom>
          <a:solidFill>
            <a:srgbClr val="EAF2FA"/>
          </a:solidFill>
          <a:ln cap="flat" cmpd="sng" w="12700">
            <a:solidFill>
              <a:srgbClr val="3498D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3498DB"/>
                </a:solidFill>
                <a:latin typeface="Calibri"/>
                <a:ea typeface="Calibri"/>
                <a:cs typeface="Calibri"/>
                <a:sym typeface="Calibri"/>
              </a:rPr>
              <a:t>Cost &amp; Scale</a:t>
            </a:r>
            <a:endParaRPr/>
          </a:p>
          <a:p>
            <a:pPr indent="0" lvl="0" marL="0" marR="0" rtl="0" algn="l">
              <a:spcBef>
                <a:spcPts val="400"/>
              </a:spcBef>
              <a:spcAft>
                <a:spcPts val="0"/>
              </a:spcAft>
              <a:buNone/>
            </a:pPr>
            <a:r>
              <a:t/>
            </a:r>
            <a:endParaRPr b="1" i="0" sz="1000" u="none" cap="none" strike="noStrike">
              <a:solidFill>
                <a:srgbClr val="3498DB"/>
              </a:solidFill>
              <a:latin typeface="Calibri"/>
              <a:ea typeface="Calibri"/>
              <a:cs typeface="Calibri"/>
              <a:sym typeface="Calibri"/>
            </a:endParaRPr>
          </a:p>
          <a:p>
            <a:pPr indent="0" lvl="0" marL="0" marR="0" rtl="0" algn="ctr">
              <a:spcBef>
                <a:spcPts val="400"/>
              </a:spcBef>
              <a:spcAft>
                <a:spcPts val="0"/>
              </a:spcAft>
              <a:buNone/>
            </a:pPr>
            <a:r>
              <a:rPr b="1" i="0" lang="en-US" sz="800" u="none" cap="none" strike="noStrike">
                <a:solidFill>
                  <a:srgbClr val="3498DB"/>
                </a:solidFill>
                <a:latin typeface="Calibri"/>
                <a:ea typeface="Calibri"/>
                <a:cs typeface="Calibri"/>
                <a:sym typeface="Calibri"/>
              </a:rPr>
              <a:t>✓ Per-team attribution</a:t>
            </a:r>
            <a:endParaRPr/>
          </a:p>
          <a:p>
            <a:pPr indent="0" lvl="0" marL="0" marR="0" rtl="0" algn="ctr">
              <a:spcBef>
                <a:spcPts val="400"/>
              </a:spcBef>
              <a:spcAft>
                <a:spcPts val="0"/>
              </a:spcAft>
              <a:buNone/>
            </a:pPr>
            <a:r>
              <a:rPr b="1" i="0" lang="en-US" sz="800" u="none" cap="none" strike="noStrike">
                <a:solidFill>
                  <a:srgbClr val="3498DB"/>
                </a:solidFill>
                <a:latin typeface="Calibri"/>
                <a:ea typeface="Calibri"/>
                <a:cs typeface="Calibri"/>
                <a:sym typeface="Calibri"/>
              </a:rPr>
              <a:t>✓ Usage tier verified</a:t>
            </a:r>
            <a:endParaRPr/>
          </a:p>
          <a:p>
            <a:pPr indent="0" lvl="0" marL="0" marR="0" rtl="0" algn="ctr">
              <a:spcBef>
                <a:spcPts val="400"/>
              </a:spcBef>
              <a:spcAft>
                <a:spcPts val="0"/>
              </a:spcAft>
              <a:buNone/>
            </a:pPr>
            <a:r>
              <a:rPr b="1" i="0" lang="en-US" sz="800" u="none" cap="none" strike="noStrike">
                <a:solidFill>
                  <a:srgbClr val="3498DB"/>
                </a:solidFill>
                <a:latin typeface="Calibri"/>
                <a:ea typeface="Calibri"/>
                <a:cs typeface="Calibri"/>
                <a:sym typeface="Calibri"/>
              </a:rPr>
              <a:t>✓ Load tested at 4×</a:t>
            </a:r>
            <a:endParaRPr/>
          </a:p>
          <a:p>
            <a:pPr indent="0" lvl="0" marL="0" marR="0" rtl="0" algn="ctr">
              <a:spcBef>
                <a:spcPts val="400"/>
              </a:spcBef>
              <a:spcAft>
                <a:spcPts val="0"/>
              </a:spcAft>
              <a:buNone/>
            </a:pPr>
            <a:r>
              <a:rPr b="1" i="0" lang="en-US" sz="800" u="none" cap="none" strike="noStrike">
                <a:solidFill>
                  <a:srgbClr val="3498DB"/>
                </a:solidFill>
                <a:latin typeface="Calibri"/>
                <a:ea typeface="Calibri"/>
                <a:cs typeface="Calibri"/>
                <a:sym typeface="Calibri"/>
              </a:rPr>
              <a:t>✓ Budget controls</a:t>
            </a:r>
            <a:endParaRPr/>
          </a:p>
        </p:txBody>
      </p:sp>
      <p:sp>
        <p:nvSpPr>
          <p:cNvPr id="392" name="Google Shape;392;p9"/>
          <p:cNvSpPr/>
          <p:nvPr/>
        </p:nvSpPr>
        <p:spPr>
          <a:xfrm>
            <a:off x="274320" y="3657600"/>
            <a:ext cx="1554480" cy="1371600"/>
          </a:xfrm>
          <a:prstGeom prst="roundRect">
            <a:avLst>
              <a:gd fmla="val 16667" name="adj"/>
            </a:avLst>
          </a:prstGeom>
          <a:solidFill>
            <a:srgbClr val="FEF9E7"/>
          </a:solidFill>
          <a:ln cap="flat" cmpd="sng" w="19050">
            <a:solidFill>
              <a:srgbClr val="D4A01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7D6608"/>
                </a:solidFill>
                <a:latin typeface="Calibri"/>
                <a:ea typeface="Calibri"/>
                <a:cs typeface="Calibri"/>
                <a:sym typeface="Calibri"/>
              </a:rPr>
              <a:t>Redis / ElastiCache</a:t>
            </a:r>
            <a:endParaRPr/>
          </a:p>
          <a:p>
            <a:pPr indent="0" lvl="0" marL="0" marR="0" rtl="0" algn="l">
              <a:spcBef>
                <a:spcPts val="400"/>
              </a:spcBef>
              <a:spcAft>
                <a:spcPts val="0"/>
              </a:spcAft>
              <a:buNone/>
            </a:pPr>
            <a:r>
              <a:t/>
            </a:r>
            <a:endParaRPr b="1" i="0" sz="1100" u="none" cap="none" strike="noStrike">
              <a:solidFill>
                <a:srgbClr val="7D6608"/>
              </a:solidFill>
              <a:latin typeface="Calibri"/>
              <a:ea typeface="Calibri"/>
              <a:cs typeface="Calibri"/>
              <a:sym typeface="Calibri"/>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Policy: sim ≥0.95</a:t>
            </a:r>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TTL: 6–24hr</a:t>
            </a:r>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Inventory: prod+store</a:t>
            </a:r>
            <a:endParaRPr/>
          </a:p>
          <a:p>
            <a:pPr indent="0" lvl="0" marL="0" marR="0" rtl="0" algn="ctr">
              <a:spcBef>
                <a:spcPts val="400"/>
              </a:spcBef>
              <a:spcAft>
                <a:spcPts val="0"/>
              </a:spcAft>
              <a:buNone/>
            </a:pPr>
            <a:r>
              <a:rPr b="0" i="0" lang="en-US" sz="900" u="none" cap="none" strike="noStrike">
                <a:solidFill>
                  <a:srgbClr val="555555"/>
                </a:solidFill>
                <a:latin typeface="Calibri"/>
                <a:ea typeface="Calibri"/>
                <a:cs typeface="Calibri"/>
                <a:sym typeface="Calibri"/>
              </a:rPr>
              <a:t>TTL: 10min</a:t>
            </a:r>
            <a:endParaRPr/>
          </a:p>
        </p:txBody>
      </p:sp>
      <p:cxnSp>
        <p:nvCxnSpPr>
          <p:cNvPr id="393" name="Google Shape;393;p9"/>
          <p:cNvCxnSpPr/>
          <p:nvPr/>
        </p:nvCxnSpPr>
        <p:spPr>
          <a:xfrm>
            <a:off x="1828800" y="4343400"/>
            <a:ext cx="1965960" cy="0"/>
          </a:xfrm>
          <a:prstGeom prst="straightConnector1">
            <a:avLst/>
          </a:prstGeom>
          <a:noFill/>
          <a:ln cap="flat" cmpd="sng" w="19050">
            <a:solidFill>
              <a:srgbClr val="D4A017"/>
            </a:solidFill>
            <a:prstDash val="solid"/>
            <a:round/>
            <a:headEnd len="sm" w="sm" type="none"/>
            <a:tailEnd len="sm" w="sm" type="none"/>
          </a:ln>
          <a:effectLst>
            <a:outerShdw blurRad="40000" rotWithShape="0" dir="5400000" dist="20000">
              <a:srgbClr val="000000">
                <a:alpha val="38039"/>
              </a:srgbClr>
            </a:outerShdw>
          </a:effectLst>
        </p:spPr>
      </p:cxnSp>
      <p:sp>
        <p:nvSpPr>
          <p:cNvPr id="394" name="Google Shape;394;p9"/>
          <p:cNvSpPr/>
          <p:nvPr/>
        </p:nvSpPr>
        <p:spPr>
          <a:xfrm>
            <a:off x="274320" y="5349240"/>
            <a:ext cx="3931920" cy="1051560"/>
          </a:xfrm>
          <a:prstGeom prst="roundRect">
            <a:avLst>
              <a:gd fmla="val 16667" name="adj"/>
            </a:avLst>
          </a:prstGeom>
          <a:solidFill>
            <a:srgbClr val="F4F6F9"/>
          </a:solidFill>
          <a:ln cap="flat" cmpd="sng" w="19050">
            <a:solidFill>
              <a:srgbClr val="95A5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555555"/>
                </a:solidFill>
                <a:latin typeface="Calibri"/>
                <a:ea typeface="Calibri"/>
                <a:cs typeface="Calibri"/>
                <a:sym typeface="Calibri"/>
              </a:rPr>
              <a:t>Observability Stack</a:t>
            </a:r>
            <a:endParaRPr/>
          </a:p>
          <a:p>
            <a:pPr indent="0" lvl="0" marL="0" marR="0" rtl="0" algn="l">
              <a:spcBef>
                <a:spcPts val="400"/>
              </a:spcBef>
              <a:spcAft>
                <a:spcPts val="0"/>
              </a:spcAft>
              <a:buNone/>
            </a:pPr>
            <a:r>
              <a:rPr b="1" i="0" lang="en-US" sz="900" u="none" cap="none" strike="noStrike">
                <a:solidFill>
                  <a:srgbClr val="27AE60"/>
                </a:solidFill>
                <a:latin typeface="Calibri"/>
                <a:ea typeface="Calibri"/>
                <a:cs typeface="Calibri"/>
                <a:sym typeface="Calibri"/>
              </a:rPr>
              <a:t>Dashboard: adoption, quality, latency, cost, errors, cache</a:t>
            </a:r>
            <a:endParaRPr/>
          </a:p>
          <a:p>
            <a:pPr indent="0" lvl="0" marL="0" marR="0" rtl="0" algn="l">
              <a:spcBef>
                <a:spcPts val="400"/>
              </a:spcBef>
              <a:spcAft>
                <a:spcPts val="0"/>
              </a:spcAft>
              <a:buNone/>
            </a:pPr>
            <a:r>
              <a:rPr b="1" i="0" lang="en-US" sz="900" u="none" cap="none" strike="noStrike">
                <a:solidFill>
                  <a:srgbClr val="27AE60"/>
                </a:solidFill>
                <a:latin typeface="Calibri"/>
                <a:ea typeface="Calibri"/>
                <a:cs typeface="Calibri"/>
                <a:sym typeface="Calibri"/>
              </a:rPr>
              <a:t>Alerting: error &gt;2%/15min, p95 &gt;2s, any 429, thumbs-down &gt;40%</a:t>
            </a:r>
            <a:endParaRPr/>
          </a:p>
          <a:p>
            <a:pPr indent="0" lvl="0" marL="0" marR="0" rtl="0" algn="l">
              <a:spcBef>
                <a:spcPts val="400"/>
              </a:spcBef>
              <a:spcAft>
                <a:spcPts val="0"/>
              </a:spcAft>
              <a:buNone/>
            </a:pPr>
            <a:r>
              <a:rPr b="1" i="0" lang="en-US" sz="900" u="none" cap="none" strike="noStrike">
                <a:solidFill>
                  <a:srgbClr val="27AE60"/>
                </a:solidFill>
                <a:latin typeface="Calibri"/>
                <a:ea typeface="Calibri"/>
                <a:cs typeface="Calibri"/>
                <a:sym typeface="Calibri"/>
              </a:rPr>
              <a:t>Feedback store: trace_id + vote  ·  Prompt logging: 10% → S3</a:t>
            </a:r>
            <a:endParaRPr/>
          </a:p>
        </p:txBody>
      </p:sp>
      <p:sp>
        <p:nvSpPr>
          <p:cNvPr id="395" name="Google Shape;395;p9"/>
          <p:cNvSpPr/>
          <p:nvPr/>
        </p:nvSpPr>
        <p:spPr>
          <a:xfrm>
            <a:off x="4389120" y="5349240"/>
            <a:ext cx="3474720" cy="1051560"/>
          </a:xfrm>
          <a:prstGeom prst="roundRect">
            <a:avLst>
              <a:gd fmla="val 16667" name="adj"/>
            </a:avLst>
          </a:prstGeom>
          <a:solidFill>
            <a:srgbClr val="EAF2FA"/>
          </a:solidFill>
          <a:ln cap="flat" cmpd="sng" w="19050">
            <a:solidFill>
              <a:srgbClr val="3498D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3498DB"/>
                </a:solidFill>
                <a:latin typeface="Calibri"/>
                <a:ea typeface="Calibri"/>
                <a:cs typeface="Calibri"/>
                <a:sym typeface="Calibri"/>
              </a:rPr>
              <a:t>Evaluation Pipeline</a:t>
            </a:r>
            <a:endParaRPr/>
          </a:p>
          <a:p>
            <a:pPr indent="0" lvl="0" marL="0" marR="0" rtl="0" algn="l">
              <a:spcBef>
                <a:spcPts val="400"/>
              </a:spcBef>
              <a:spcAft>
                <a:spcPts val="0"/>
              </a:spcAft>
              <a:buNone/>
            </a:pPr>
            <a:r>
              <a:rPr b="1" i="0" lang="en-US" sz="900" u="none" cap="none" strike="noStrike">
                <a:solidFill>
                  <a:srgbClr val="3498DB"/>
                </a:solidFill>
                <a:latin typeface="Calibri"/>
                <a:ea typeface="Calibri"/>
                <a:cs typeface="Calibri"/>
                <a:sym typeface="Calibri"/>
              </a:rPr>
              <a:t>Golden Q&amp;A set (200+ pairs)</a:t>
            </a:r>
            <a:endParaRPr/>
          </a:p>
          <a:p>
            <a:pPr indent="0" lvl="0" marL="0" marR="0" rtl="0" algn="l">
              <a:spcBef>
                <a:spcPts val="400"/>
              </a:spcBef>
              <a:spcAft>
                <a:spcPts val="0"/>
              </a:spcAft>
              <a:buNone/>
            </a:pPr>
            <a:r>
              <a:rPr b="1" i="0" lang="en-US" sz="900" u="none" cap="none" strike="noStrike">
                <a:solidFill>
                  <a:srgbClr val="3498DB"/>
                </a:solidFill>
                <a:latin typeface="Calibri"/>
                <a:ea typeface="Calibri"/>
                <a:cs typeface="Calibri"/>
                <a:sym typeface="Calibri"/>
              </a:rPr>
              <a:t>Model-graded evals (GPT-4o as judge)</a:t>
            </a:r>
            <a:endParaRPr/>
          </a:p>
          <a:p>
            <a:pPr indent="0" lvl="0" marL="0" marR="0" rtl="0" algn="l">
              <a:spcBef>
                <a:spcPts val="400"/>
              </a:spcBef>
              <a:spcAft>
                <a:spcPts val="0"/>
              </a:spcAft>
              <a:buNone/>
            </a:pPr>
            <a:r>
              <a:rPr b="1" i="0" lang="en-US" sz="900" u="none" cap="none" strike="noStrike">
                <a:solidFill>
                  <a:srgbClr val="3498DB"/>
                </a:solidFill>
                <a:latin typeface="Calibri"/>
                <a:ea typeface="Calibri"/>
                <a:cs typeface="Calibri"/>
                <a:sym typeface="Calibri"/>
              </a:rPr>
              <a:t>Gates all quality-affecting deployments</a:t>
            </a:r>
            <a:endParaRPr/>
          </a:p>
        </p:txBody>
      </p:sp>
      <p:sp>
        <p:nvSpPr>
          <p:cNvPr id="396" name="Google Shape;396;p9"/>
          <p:cNvSpPr txBox="1"/>
          <p:nvPr/>
        </p:nvSpPr>
        <p:spPr>
          <a:xfrm>
            <a:off x="8229600" y="5349240"/>
            <a:ext cx="365760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0F3460"/>
                </a:solidFill>
                <a:latin typeface="Calibri"/>
                <a:ea typeface="Calibri"/>
                <a:cs typeface="Calibri"/>
                <a:sym typeface="Calibri"/>
              </a:rPr>
              <a:t>Key Metrics Impact</a:t>
            </a:r>
            <a:endParaRPr/>
          </a:p>
        </p:txBody>
      </p:sp>
      <p:sp>
        <p:nvSpPr>
          <p:cNvPr id="397" name="Google Shape;397;p9"/>
          <p:cNvSpPr txBox="1"/>
          <p:nvPr/>
        </p:nvSpPr>
        <p:spPr>
          <a:xfrm>
            <a:off x="8321040" y="5623560"/>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TTFT</a:t>
            </a:r>
            <a:endParaRPr/>
          </a:p>
        </p:txBody>
      </p:sp>
      <p:sp>
        <p:nvSpPr>
          <p:cNvPr id="398" name="Google Shape;398;p9"/>
          <p:cNvSpPr txBox="1"/>
          <p:nvPr/>
        </p:nvSpPr>
        <p:spPr>
          <a:xfrm>
            <a:off x="9509760" y="5623560"/>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~1,000ms → ~150ms</a:t>
            </a:r>
            <a:endParaRPr/>
          </a:p>
        </p:txBody>
      </p:sp>
      <p:sp>
        <p:nvSpPr>
          <p:cNvPr id="399" name="Google Shape;399;p9"/>
          <p:cNvSpPr txBox="1"/>
          <p:nvPr/>
        </p:nvSpPr>
        <p:spPr>
          <a:xfrm>
            <a:off x="8321040" y="5788152"/>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Peak errors</a:t>
            </a:r>
            <a:endParaRPr/>
          </a:p>
        </p:txBody>
      </p:sp>
      <p:sp>
        <p:nvSpPr>
          <p:cNvPr id="400" name="Google Shape;400;p9"/>
          <p:cNvSpPr txBox="1"/>
          <p:nvPr/>
        </p:nvSpPr>
        <p:spPr>
          <a:xfrm>
            <a:off x="9509760" y="5788152"/>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8.2% → &lt;1%</a:t>
            </a:r>
            <a:endParaRPr/>
          </a:p>
        </p:txBody>
      </p:sp>
      <p:sp>
        <p:nvSpPr>
          <p:cNvPr id="401" name="Google Shape;401;p9"/>
          <p:cNvSpPr txBox="1"/>
          <p:nvPr/>
        </p:nvSpPr>
        <p:spPr>
          <a:xfrm>
            <a:off x="8321040" y="5952744"/>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Cache hits</a:t>
            </a:r>
            <a:endParaRPr/>
          </a:p>
        </p:txBody>
      </p:sp>
      <p:sp>
        <p:nvSpPr>
          <p:cNvPr id="402" name="Google Shape;402;p9"/>
          <p:cNvSpPr txBox="1"/>
          <p:nvPr/>
        </p:nvSpPr>
        <p:spPr>
          <a:xfrm>
            <a:off x="9509760" y="5952744"/>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6% → 30–50%</a:t>
            </a:r>
            <a:endParaRPr/>
          </a:p>
        </p:txBody>
      </p:sp>
      <p:sp>
        <p:nvSpPr>
          <p:cNvPr id="403" name="Google Shape;403;p9"/>
          <p:cNvSpPr txBox="1"/>
          <p:nvPr/>
        </p:nvSpPr>
        <p:spPr>
          <a:xfrm>
            <a:off x="8321040" y="6117336"/>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Truncation</a:t>
            </a:r>
            <a:endParaRPr/>
          </a:p>
        </p:txBody>
      </p:sp>
      <p:sp>
        <p:nvSpPr>
          <p:cNvPr id="404" name="Google Shape;404;p9"/>
          <p:cNvSpPr txBox="1"/>
          <p:nvPr/>
        </p:nvSpPr>
        <p:spPr>
          <a:xfrm>
            <a:off x="9509760" y="6117336"/>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5.2% → 0%</a:t>
            </a:r>
            <a:endParaRPr/>
          </a:p>
        </p:txBody>
      </p:sp>
      <p:sp>
        <p:nvSpPr>
          <p:cNvPr id="405" name="Google Shape;405;p9"/>
          <p:cNvSpPr txBox="1"/>
          <p:nvPr/>
        </p:nvSpPr>
        <p:spPr>
          <a:xfrm>
            <a:off x="8321040" y="6281928"/>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Cost trend</a:t>
            </a:r>
            <a:endParaRPr/>
          </a:p>
        </p:txBody>
      </p:sp>
      <p:sp>
        <p:nvSpPr>
          <p:cNvPr id="406" name="Google Shape;406;p9"/>
          <p:cNvSpPr txBox="1"/>
          <p:nvPr/>
        </p:nvSpPr>
        <p:spPr>
          <a:xfrm>
            <a:off x="9509760" y="628192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+6.2%/day → Flat</a:t>
            </a:r>
            <a:endParaRPr/>
          </a:p>
        </p:txBody>
      </p:sp>
      <p:sp>
        <p:nvSpPr>
          <p:cNvPr id="407" name="Google Shape;407;p9"/>
          <p:cNvSpPr txBox="1"/>
          <p:nvPr/>
        </p:nvSpPr>
        <p:spPr>
          <a:xfrm>
            <a:off x="8321040" y="6446520"/>
            <a:ext cx="118872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555555"/>
                </a:solidFill>
                <a:latin typeface="Calibri"/>
                <a:ea typeface="Calibri"/>
                <a:cs typeface="Calibri"/>
                <a:sym typeface="Calibri"/>
              </a:rPr>
              <a:t>Prompt cache</a:t>
            </a:r>
            <a:endParaRPr/>
          </a:p>
        </p:txBody>
      </p:sp>
      <p:sp>
        <p:nvSpPr>
          <p:cNvPr id="408" name="Google Shape;408;p9"/>
          <p:cNvSpPr txBox="1"/>
          <p:nvPr/>
        </p:nvSpPr>
        <p:spPr>
          <a:xfrm>
            <a:off x="9509760" y="6446520"/>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0% → &gt;50%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10"/>
          <p:cNvSpPr/>
          <p:nvPr/>
        </p:nvSpPr>
        <p:spPr>
          <a:xfrm>
            <a:off x="0" y="0"/>
            <a:ext cx="12191695" cy="100584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10"/>
          <p:cNvSpPr txBox="1"/>
          <p:nvPr/>
        </p:nvSpPr>
        <p:spPr>
          <a:xfrm>
            <a:off x="548640" y="1371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Advising on Tradeoffs &amp; Ensuring Deployment</a:t>
            </a:r>
            <a:endParaRPr/>
          </a:p>
        </p:txBody>
      </p:sp>
      <p:sp>
        <p:nvSpPr>
          <p:cNvPr id="416" name="Google Shape;416;p10"/>
          <p:cNvSpPr txBox="1"/>
          <p:nvPr/>
        </p:nvSpPr>
        <p:spPr>
          <a:xfrm>
            <a:off x="548640" y="5943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Communicating Technical Reality to Business Stakeholders</a:t>
            </a:r>
            <a:endParaRPr/>
          </a:p>
        </p:txBody>
      </p:sp>
      <p:sp>
        <p:nvSpPr>
          <p:cNvPr id="417" name="Google Shape;417;p10"/>
          <p:cNvSpPr/>
          <p:nvPr/>
        </p:nvSpPr>
        <p:spPr>
          <a:xfrm>
            <a:off x="0" y="6583680"/>
            <a:ext cx="12191695" cy="274320"/>
          </a:xfrm>
          <a:prstGeom prst="rect">
            <a:avLst/>
          </a:prstGeom>
          <a:solidFill>
            <a:srgbClr val="0F346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10"/>
          <p:cNvSpPr txBox="1"/>
          <p:nvPr/>
        </p:nvSpPr>
        <p:spPr>
          <a:xfrm>
            <a:off x="11247120" y="6601968"/>
            <a:ext cx="731520" cy="228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10/10</a:t>
            </a:r>
            <a:endParaRPr/>
          </a:p>
        </p:txBody>
      </p:sp>
      <p:sp>
        <p:nvSpPr>
          <p:cNvPr id="419" name="Google Shape;419;p10"/>
          <p:cNvSpPr txBox="1"/>
          <p:nvPr/>
        </p:nvSpPr>
        <p:spPr>
          <a:xfrm>
            <a:off x="365760" y="1143000"/>
            <a:ext cx="58521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Key Tradeoff Decisions</a:t>
            </a:r>
            <a:endParaRPr/>
          </a:p>
        </p:txBody>
      </p:sp>
      <p:sp>
        <p:nvSpPr>
          <p:cNvPr id="420" name="Google Shape;420;p10"/>
          <p:cNvSpPr/>
          <p:nvPr/>
        </p:nvSpPr>
        <p:spPr>
          <a:xfrm>
            <a:off x="365750" y="1463048"/>
            <a:ext cx="5760600" cy="914400"/>
          </a:xfrm>
          <a:prstGeom prst="roundRect">
            <a:avLst>
              <a:gd fmla="val 16667" name="adj"/>
            </a:avLst>
          </a:prstGeom>
          <a:solidFill>
            <a:srgbClr val="FFFFFF"/>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Model Routing: Cost vs. Quality</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A: GPT-4o-mini for policy_only (49%) — 94% cheaper</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B: Keep GPT-4o everywhere — zero quality risk</a:t>
            </a:r>
            <a:endParaRPr sz="1500"/>
          </a:p>
        </p:txBody>
      </p:sp>
      <p:sp>
        <p:nvSpPr>
          <p:cNvPr id="421" name="Google Shape;421;p10"/>
          <p:cNvSpPr/>
          <p:nvPr/>
        </p:nvSpPr>
        <p:spPr>
          <a:xfrm>
            <a:off x="548640" y="2278064"/>
            <a:ext cx="5394900" cy="2559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 Pursue mini — biggest cost lever. Ship only if eval drop &lt;5%.</a:t>
            </a:r>
            <a:endParaRPr/>
          </a:p>
        </p:txBody>
      </p:sp>
      <p:sp>
        <p:nvSpPr>
          <p:cNvPr id="422" name="Google Shape;422;p10"/>
          <p:cNvSpPr/>
          <p:nvPr/>
        </p:nvSpPr>
        <p:spPr>
          <a:xfrm>
            <a:off x="365750" y="2697475"/>
            <a:ext cx="5760600" cy="914400"/>
          </a:xfrm>
          <a:prstGeom prst="roundRect">
            <a:avLst>
              <a:gd fmla="val 16667" name="adj"/>
            </a:avLst>
          </a:prstGeom>
          <a:solidFill>
            <a:srgbClr val="FFFFFF"/>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Prompt Compression vs. Fine-Tuning</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A: Manual trim — fast (days), low risk</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B: Fine-tune GPT-4o — permanent, higher effort (weeks)</a:t>
            </a:r>
            <a:endParaRPr sz="1500"/>
          </a:p>
        </p:txBody>
      </p:sp>
      <p:sp>
        <p:nvSpPr>
          <p:cNvPr id="423" name="Google Shape;423;p10"/>
          <p:cNvSpPr/>
          <p:nvPr/>
        </p:nvSpPr>
        <p:spPr>
          <a:xfrm>
            <a:off x="548640" y="3537694"/>
            <a:ext cx="5394900" cy="2559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 Fix immediate growth first (A), then evaluate fine-tuning (B).</a:t>
            </a:r>
            <a:endParaRPr/>
          </a:p>
        </p:txBody>
      </p:sp>
      <p:sp>
        <p:nvSpPr>
          <p:cNvPr id="424" name="Google Shape;424;p10"/>
          <p:cNvSpPr/>
          <p:nvPr/>
        </p:nvSpPr>
        <p:spPr>
          <a:xfrm>
            <a:off x="365750" y="3931925"/>
            <a:ext cx="5760600" cy="886800"/>
          </a:xfrm>
          <a:prstGeom prst="roundRect">
            <a:avLst>
              <a:gd fmla="val 16667" name="adj"/>
            </a:avLst>
          </a:prstGeom>
          <a:solidFill>
            <a:srgbClr val="FFFFFF"/>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Expand Now vs. Stabilize First</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A: Expand immediately — 3 teams get access sooner</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B: Stabilize 4–6 weeks, then pilot</a:t>
            </a:r>
            <a:endParaRPr sz="1500"/>
          </a:p>
        </p:txBody>
      </p:sp>
      <p:sp>
        <p:nvSpPr>
          <p:cNvPr id="425" name="Google Shape;425;p10"/>
          <p:cNvSpPr/>
          <p:nvPr/>
        </p:nvSpPr>
        <p:spPr>
          <a:xfrm>
            <a:off x="548640" y="4734349"/>
            <a:ext cx="5394900" cy="2559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 Stabilize first. Unreliable tool employees abandon &gt; delayed one they trust.</a:t>
            </a:r>
            <a:endParaRPr/>
          </a:p>
        </p:txBody>
      </p:sp>
      <p:sp>
        <p:nvSpPr>
          <p:cNvPr id="426" name="Google Shape;426;p10"/>
          <p:cNvSpPr/>
          <p:nvPr/>
        </p:nvSpPr>
        <p:spPr>
          <a:xfrm>
            <a:off x="365750" y="5166352"/>
            <a:ext cx="5760600" cy="886800"/>
          </a:xfrm>
          <a:prstGeom prst="roundRect">
            <a:avLst>
              <a:gd fmla="val 16667" name="adj"/>
            </a:avLst>
          </a:prstGeom>
          <a:solidFill>
            <a:srgbClr val="FFFFFF"/>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Streaming: UX vs. Engineering Effort</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A: End-to-end streaming — TTFT ~150ms, changes at 3 layers</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B: Keep synchronous — less work, 1s+ blank screen remains</a:t>
            </a:r>
            <a:endParaRPr sz="1500"/>
          </a:p>
        </p:txBody>
      </p:sp>
      <p:sp>
        <p:nvSpPr>
          <p:cNvPr id="427" name="Google Shape;427;p10"/>
          <p:cNvSpPr/>
          <p:nvPr/>
        </p:nvSpPr>
        <p:spPr>
          <a:xfrm>
            <a:off x="548640" y="5981384"/>
            <a:ext cx="5394900" cy="255900"/>
          </a:xfrm>
          <a:prstGeom prst="roundRect">
            <a:avLst>
              <a:gd fmla="val 16667" name="adj"/>
            </a:avLst>
          </a:prstGeom>
          <a:solidFill>
            <a:srgbClr val="EAFAF1"/>
          </a:solidFill>
          <a:ln cap="flat" cmpd="sng" w="127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900" u="none" cap="none" strike="noStrike">
                <a:solidFill>
                  <a:srgbClr val="27AE60"/>
                </a:solidFill>
                <a:latin typeface="Calibri"/>
                <a:ea typeface="Calibri"/>
                <a:cs typeface="Calibri"/>
                <a:sym typeface="Calibri"/>
              </a:rPr>
              <a:t>→ Implement after stabilization. Single biggest UX improvement.</a:t>
            </a:r>
            <a:endParaRPr/>
          </a:p>
        </p:txBody>
      </p:sp>
      <p:sp>
        <p:nvSpPr>
          <p:cNvPr id="428" name="Google Shape;428;p10"/>
          <p:cNvSpPr txBox="1"/>
          <p:nvPr/>
        </p:nvSpPr>
        <p:spPr>
          <a:xfrm>
            <a:off x="6309360" y="1143000"/>
            <a:ext cx="5486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F3460"/>
                </a:solidFill>
                <a:latin typeface="Calibri"/>
                <a:ea typeface="Calibri"/>
                <a:cs typeface="Calibri"/>
                <a:sym typeface="Calibri"/>
              </a:rPr>
              <a:t>Ensuring Deployment</a:t>
            </a:r>
            <a:endParaRPr/>
          </a:p>
        </p:txBody>
      </p:sp>
      <p:sp>
        <p:nvSpPr>
          <p:cNvPr id="429" name="Google Shape;429;p10"/>
          <p:cNvSpPr/>
          <p:nvPr/>
        </p:nvSpPr>
        <p:spPr>
          <a:xfrm>
            <a:off x="6309360" y="1463040"/>
            <a:ext cx="5440680" cy="1097280"/>
          </a:xfrm>
          <a:prstGeom prst="roundRect">
            <a:avLst>
              <a:gd fmla="val 16667" name="adj"/>
            </a:avLst>
          </a:prstGeom>
          <a:solidFill>
            <a:srgbClr val="E8EEF6"/>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Stakeholder Communication</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 Weekly exec summary (CIO/CTO): 3 metrics, 1 sentence each, no jargon</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 Bi-weekly technical review: working sessions with dashboards</a:t>
            </a:r>
            <a:endParaRPr sz="1500"/>
          </a:p>
          <a:p>
            <a:pPr indent="0" lvl="0" marL="0" marR="0" rtl="0" algn="l">
              <a:spcBef>
                <a:spcPts val="400"/>
              </a:spcBef>
              <a:spcAft>
                <a:spcPts val="0"/>
              </a:spcAft>
              <a:buNone/>
            </a:pPr>
            <a:r>
              <a:rPr b="0" i="0" lang="en-US" sz="1100" u="none" cap="none" strike="noStrike">
                <a:solidFill>
                  <a:srgbClr val="1A1A2E"/>
                </a:solidFill>
                <a:latin typeface="Calibri"/>
                <a:ea typeface="Calibri"/>
                <a:cs typeface="Calibri"/>
                <a:sym typeface="Calibri"/>
              </a:rPr>
              <a:t>• Ad-hoc incidents: within 2hr — what / impact / action / next update</a:t>
            </a:r>
            <a:endParaRPr sz="1500"/>
          </a:p>
        </p:txBody>
      </p:sp>
      <p:sp>
        <p:nvSpPr>
          <p:cNvPr id="430" name="Google Shape;430;p10"/>
          <p:cNvSpPr/>
          <p:nvPr/>
        </p:nvSpPr>
        <p:spPr>
          <a:xfrm>
            <a:off x="6309350" y="2697476"/>
            <a:ext cx="5440800" cy="1323300"/>
          </a:xfrm>
          <a:prstGeom prst="roundRect">
            <a:avLst>
              <a:gd fmla="val 16667" name="adj"/>
            </a:avLst>
          </a:prstGeom>
          <a:solidFill>
            <a:srgbClr val="FFFFFF"/>
          </a:solidFill>
          <a:ln cap="flat" cmpd="sng" w="12700">
            <a:solidFill>
              <a:srgbClr val="0F34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Roles &amp; Ownership</a:t>
            </a:r>
            <a:endParaRPr sz="1500"/>
          </a:p>
          <a:p>
            <a:pPr indent="0" lvl="0" marL="0" marR="0" rtl="0" algn="l">
              <a:spcBef>
                <a:spcPts val="400"/>
              </a:spcBef>
              <a:spcAft>
                <a:spcPts val="0"/>
              </a:spcAft>
              <a:buNone/>
            </a:pPr>
            <a:r>
              <a:rPr b="1" i="0" lang="en-US" sz="1100" u="none" cap="none" strike="noStrike">
                <a:solidFill>
                  <a:srgbClr val="3498DB"/>
                </a:solidFill>
                <a:latin typeface="Calibri"/>
                <a:ea typeface="Calibri"/>
                <a:cs typeface="Calibri"/>
                <a:sym typeface="Calibri"/>
              </a:rPr>
              <a:t>I own (ASE):</a:t>
            </a:r>
            <a:endParaRPr sz="1500"/>
          </a:p>
          <a:p>
            <a:pPr indent="0" lvl="0" marL="0" marR="0" rtl="0" algn="l">
              <a:spcBef>
                <a:spcPts val="400"/>
              </a:spcBef>
              <a:spcAft>
                <a:spcPts val="0"/>
              </a:spcAft>
              <a:buNone/>
            </a:pPr>
            <a:r>
              <a:rPr b="0" i="0" lang="en-US" sz="1000" u="none" cap="none" strike="noStrike">
                <a:solidFill>
                  <a:srgbClr val="555555"/>
                </a:solidFill>
                <a:latin typeface="Calibri"/>
                <a:ea typeface="Calibri"/>
                <a:cs typeface="Calibri"/>
                <a:sym typeface="Calibri"/>
              </a:rPr>
              <a:t>Prompt diagnosis · Prompt caching advice · Eval design · Fine-tuning resources · Rate-limit escalation · Architecture review · Tier upgrades</a:t>
            </a:r>
            <a:endParaRPr sz="1500"/>
          </a:p>
          <a:p>
            <a:pPr indent="0" lvl="0" marL="0" marR="0" rtl="0" algn="l">
              <a:spcBef>
                <a:spcPts val="400"/>
              </a:spcBef>
              <a:spcAft>
                <a:spcPts val="0"/>
              </a:spcAft>
              <a:buNone/>
            </a:pPr>
            <a:r>
              <a:rPr b="1" i="0" lang="en-US" sz="1100" u="none" cap="none" strike="noStrike">
                <a:solidFill>
                  <a:srgbClr val="E67E22"/>
                </a:solidFill>
                <a:latin typeface="Calibri"/>
                <a:ea typeface="Calibri"/>
                <a:cs typeface="Calibri"/>
                <a:sym typeface="Calibri"/>
              </a:rPr>
              <a:t>Your engineering team owns:</a:t>
            </a:r>
            <a:endParaRPr sz="1500"/>
          </a:p>
          <a:p>
            <a:pPr indent="0" lvl="0" marL="0" marR="0" rtl="0" algn="l">
              <a:spcBef>
                <a:spcPts val="400"/>
              </a:spcBef>
              <a:spcAft>
                <a:spcPts val="0"/>
              </a:spcAft>
              <a:buNone/>
            </a:pPr>
            <a:r>
              <a:rPr b="0" i="0" lang="en-US" sz="1000" u="none" cap="none" strike="noStrike">
                <a:solidFill>
                  <a:srgbClr val="555555"/>
                </a:solidFill>
                <a:latin typeface="Calibri"/>
                <a:ea typeface="Calibri"/>
                <a:cs typeface="Calibri"/>
                <a:sym typeface="Calibri"/>
              </a:rPr>
              <a:t>Inventory fix · Redis caching · Lambda pipeline · Graceful degradation · Monitoring · Feedback · Dashboard · Load testing</a:t>
            </a:r>
            <a:endParaRPr sz="1500"/>
          </a:p>
        </p:txBody>
      </p:sp>
      <p:sp>
        <p:nvSpPr>
          <p:cNvPr id="431" name="Google Shape;431;p10"/>
          <p:cNvSpPr/>
          <p:nvPr/>
        </p:nvSpPr>
        <p:spPr>
          <a:xfrm>
            <a:off x="6309360" y="4206240"/>
            <a:ext cx="5440680" cy="1097280"/>
          </a:xfrm>
          <a:prstGeom prst="roundRect">
            <a:avLst>
              <a:gd fmla="val 16667" name="adj"/>
            </a:avLst>
          </a:prstGeom>
          <a:solidFill>
            <a:schemeClr val="lt1"/>
          </a:solidFill>
          <a:ln cap="flat" cmpd="sng" w="12700">
            <a:solidFill>
              <a:srgbClr val="95A5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3460"/>
                </a:solidFill>
                <a:latin typeface="Calibri"/>
                <a:ea typeface="Calibri"/>
                <a:cs typeface="Calibri"/>
                <a:sym typeface="Calibri"/>
              </a:rPr>
              <a:t>Implementation Waves</a:t>
            </a:r>
            <a:endParaRPr sz="1500"/>
          </a:p>
          <a:p>
            <a:pPr indent="0" lvl="0" marL="0" marR="0" rtl="0" algn="l">
              <a:spcBef>
                <a:spcPts val="400"/>
              </a:spcBef>
              <a:spcAft>
                <a:spcPts val="0"/>
              </a:spcAft>
              <a:buNone/>
            </a:pPr>
            <a:r>
              <a:rPr b="1" i="0" lang="en-US" sz="1100" u="none" cap="none" strike="noStrike">
                <a:solidFill>
                  <a:srgbClr val="C0392B"/>
                </a:solidFill>
                <a:latin typeface="Calibri"/>
                <a:ea typeface="Calibri"/>
                <a:cs typeface="Calibri"/>
                <a:sym typeface="Calibri"/>
              </a:rPr>
              <a:t>Wave 1 (Wk 1): Quick fixes + alerting + begin prompt investigation</a:t>
            </a:r>
            <a:endParaRPr sz="1500"/>
          </a:p>
          <a:p>
            <a:pPr indent="0" lvl="0" marL="0" marR="0" rtl="0" algn="l">
              <a:spcBef>
                <a:spcPts val="400"/>
              </a:spcBef>
              <a:spcAft>
                <a:spcPts val="0"/>
              </a:spcAft>
              <a:buNone/>
            </a:pPr>
            <a:r>
              <a:rPr b="1" i="0" lang="en-US" sz="1100" u="none" cap="none" strike="noStrike">
                <a:solidFill>
                  <a:srgbClr val="E67E22"/>
                </a:solidFill>
                <a:latin typeface="Calibri"/>
                <a:ea typeface="Calibri"/>
                <a:cs typeface="Calibri"/>
                <a:sym typeface="Calibri"/>
              </a:rPr>
              <a:t>Wave 2 (Wk 2–4): Prompt fix + inventory + feedback + degradation + retries</a:t>
            </a:r>
            <a:endParaRPr sz="1500"/>
          </a:p>
          <a:p>
            <a:pPr indent="0" lvl="0" marL="0" marR="0" rtl="0" algn="l">
              <a:spcBef>
                <a:spcPts val="400"/>
              </a:spcBef>
              <a:spcAft>
                <a:spcPts val="0"/>
              </a:spcAft>
              <a:buNone/>
            </a:pPr>
            <a:r>
              <a:rPr b="1" i="0" lang="en-US" sz="1100" u="none" cap="none" strike="noStrike">
                <a:solidFill>
                  <a:srgbClr val="3498DB"/>
                </a:solidFill>
                <a:latin typeface="Calibri"/>
                <a:ea typeface="Calibri"/>
                <a:cs typeface="Calibri"/>
                <a:sym typeface="Calibri"/>
              </a:rPr>
              <a:t>Wave 3 (Wk 4–8): Chunk budget + caching + model routing + streaming</a:t>
            </a:r>
            <a:endParaRPr sz="1500"/>
          </a:p>
          <a:p>
            <a:pPr indent="0" lvl="0" marL="0" marR="0" rtl="0" algn="l">
              <a:spcBef>
                <a:spcPts val="400"/>
              </a:spcBef>
              <a:spcAft>
                <a:spcPts val="0"/>
              </a:spcAft>
              <a:buNone/>
            </a:pPr>
            <a:r>
              <a:rPr b="1" i="0" lang="en-US" sz="1100" u="none" cap="none" strike="noStrike">
                <a:solidFill>
                  <a:srgbClr val="0F3460"/>
                </a:solidFill>
                <a:latin typeface="Calibri"/>
                <a:ea typeface="Calibri"/>
                <a:cs typeface="Calibri"/>
                <a:sym typeface="Calibri"/>
              </a:rPr>
              <a:t>Wave 4 (Wk 8–12): Eval pipeline + load test + pilot → full expansion</a:t>
            </a:r>
            <a:endParaRPr sz="1500"/>
          </a:p>
        </p:txBody>
      </p:sp>
      <p:sp>
        <p:nvSpPr>
          <p:cNvPr id="432" name="Google Shape;432;p10"/>
          <p:cNvSpPr/>
          <p:nvPr/>
        </p:nvSpPr>
        <p:spPr>
          <a:xfrm>
            <a:off x="6309360" y="5440680"/>
            <a:ext cx="5440680" cy="914400"/>
          </a:xfrm>
          <a:prstGeom prst="roundRect">
            <a:avLst>
              <a:gd fmla="val 16667" name="adj"/>
            </a:avLst>
          </a:prstGeom>
          <a:solidFill>
            <a:schemeClr val="lt1"/>
          </a:solidFill>
          <a:ln cap="flat" cmpd="sng" w="25400">
            <a:solidFill>
              <a:srgbClr val="27AE6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27AE60"/>
                </a:solidFill>
                <a:latin typeface="Calibri"/>
                <a:ea typeface="Calibri"/>
                <a:cs typeface="Calibri"/>
                <a:sym typeface="Calibri"/>
              </a:rPr>
              <a:t>Expansion Gates</a:t>
            </a:r>
            <a:endParaRPr sz="1500"/>
          </a:p>
          <a:p>
            <a:pPr indent="0" lvl="0" marL="0" marR="0" rtl="0" algn="l">
              <a:spcBef>
                <a:spcPts val="400"/>
              </a:spcBef>
              <a:spcAft>
                <a:spcPts val="0"/>
              </a:spcAft>
              <a:buNone/>
            </a:pPr>
            <a:r>
              <a:rPr b="1" i="0" lang="en-US" sz="1100" u="none" cap="none" strike="noStrike">
                <a:solidFill>
                  <a:srgbClr val="1A1A2E"/>
                </a:solidFill>
                <a:latin typeface="Calibri"/>
                <a:ea typeface="Calibri"/>
                <a:cs typeface="Calibri"/>
                <a:sym typeface="Calibri"/>
              </a:rPr>
              <a:t>All pre-expansion targets met for 2 consecutive weeks before pilot. If any metric regresses after pilot launch, pause before adding remaining teams.</a:t>
            </a:r>
            <a:endParaRPr sz="1500"/>
          </a:p>
          <a:p>
            <a:pPr indent="0" lvl="0" marL="0" marR="0" rtl="0" algn="l">
              <a:spcBef>
                <a:spcPts val="400"/>
              </a:spcBef>
              <a:spcAft>
                <a:spcPts val="0"/>
              </a:spcAft>
              <a:buNone/>
            </a:pPr>
            <a:r>
              <a:rPr b="1" i="0" lang="en-US" sz="1000" u="none" cap="none" strike="noStrike">
                <a:solidFill>
                  <a:srgbClr val="0F3460"/>
                </a:solidFill>
                <a:latin typeface="Calibri"/>
                <a:ea typeface="Calibri"/>
                <a:cs typeface="Calibri"/>
                <a:sym typeface="Calibri"/>
              </a:rPr>
              <a:t>Targets: &gt;99% availability  ·  Peak errors &lt;1%  ·  Cost trend flat  ·  p50 &lt;1s  ·  &gt;80% thumbs-up</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36" name="Shape 436"/>
        <p:cNvGrpSpPr/>
        <p:nvPr/>
      </p:nvGrpSpPr>
      <p:grpSpPr>
        <a:xfrm>
          <a:off x="0" y="0"/>
          <a:ext cx="0" cy="0"/>
          <a:chOff x="0" y="0"/>
          <a:chExt cx="0" cy="0"/>
        </a:xfrm>
      </p:grpSpPr>
      <p:sp>
        <p:nvSpPr>
          <p:cNvPr id="437" name="Google Shape;437;g3d10bb97ea7_0_30"/>
          <p:cNvSpPr txBox="1"/>
          <p:nvPr>
            <p:ph type="ctrTitle"/>
          </p:nvPr>
        </p:nvSpPr>
        <p:spPr>
          <a:xfrm>
            <a:off x="2209638" y="2785375"/>
            <a:ext cx="7772400" cy="1470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700">
                <a:solidFill>
                  <a:schemeClr val="lt1"/>
                </a:solidFill>
              </a:rPr>
              <a:t>Thank You</a:t>
            </a:r>
            <a:endParaRPr b="1" sz="47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g3d10bb97ea7_0_0"/>
          <p:cNvSpPr/>
          <p:nvPr/>
        </p:nvSpPr>
        <p:spPr>
          <a:xfrm>
            <a:off x="0" y="0"/>
            <a:ext cx="12191700" cy="1005900"/>
          </a:xfrm>
          <a:prstGeom prst="rect">
            <a:avLst/>
          </a:prstGeom>
          <a:solidFill>
            <a:srgbClr val="0F346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g3d10bb97ea7_0_0"/>
          <p:cNvSpPr txBox="1"/>
          <p:nvPr/>
        </p:nvSpPr>
        <p:spPr>
          <a:xfrm>
            <a:off x="548640" y="137160"/>
            <a:ext cx="109728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FFFFFF"/>
                </a:solidFill>
                <a:latin typeface="Calibri"/>
                <a:ea typeface="Calibri"/>
                <a:cs typeface="Calibri"/>
                <a:sym typeface="Calibri"/>
              </a:rPr>
              <a:t>Current Architecture</a:t>
            </a:r>
            <a:endParaRPr/>
          </a:p>
        </p:txBody>
      </p:sp>
      <p:sp>
        <p:nvSpPr>
          <p:cNvPr id="445" name="Google Shape;445;g3d10bb97ea7_0_0"/>
          <p:cNvSpPr txBox="1"/>
          <p:nvPr/>
        </p:nvSpPr>
        <p:spPr>
          <a:xfrm>
            <a:off x="548640" y="594360"/>
            <a:ext cx="10972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BBCCDD"/>
                </a:solidFill>
                <a:latin typeface="Calibri"/>
                <a:ea typeface="Calibri"/>
                <a:cs typeface="Calibri"/>
                <a:sym typeface="Calibri"/>
              </a:rPr>
              <a:t>Problems Annotated  ·  Proven Across 611/611 Traces</a:t>
            </a:r>
            <a:endParaRPr/>
          </a:p>
        </p:txBody>
      </p:sp>
      <p:sp>
        <p:nvSpPr>
          <p:cNvPr id="446" name="Google Shape;446;g3d10bb97ea7_0_0"/>
          <p:cNvSpPr/>
          <p:nvPr/>
        </p:nvSpPr>
        <p:spPr>
          <a:xfrm>
            <a:off x="0" y="6583680"/>
            <a:ext cx="12191700" cy="274200"/>
          </a:xfrm>
          <a:prstGeom prst="rect">
            <a:avLst/>
          </a:prstGeom>
          <a:solidFill>
            <a:srgbClr val="0F346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g3d10bb97ea7_0_0"/>
          <p:cNvSpPr txBox="1"/>
          <p:nvPr/>
        </p:nvSpPr>
        <p:spPr>
          <a:xfrm>
            <a:off x="11247120" y="6601968"/>
            <a:ext cx="731400" cy="230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00" u="none" cap="none" strike="noStrike">
                <a:solidFill>
                  <a:srgbClr val="FFFFFF"/>
                </a:solidFill>
                <a:latin typeface="Calibri"/>
                <a:ea typeface="Calibri"/>
                <a:cs typeface="Calibri"/>
                <a:sym typeface="Calibri"/>
              </a:rPr>
              <a:t>4/10</a:t>
            </a:r>
            <a:endParaRPr/>
          </a:p>
        </p:txBody>
      </p:sp>
      <p:sp>
        <p:nvSpPr>
          <p:cNvPr id="448" name="Google Shape;448;g3d10bb97ea7_0_0"/>
          <p:cNvSpPr/>
          <p:nvPr/>
        </p:nvSpPr>
        <p:spPr>
          <a:xfrm>
            <a:off x="365760" y="2194560"/>
            <a:ext cx="1463100" cy="1645800"/>
          </a:xfrm>
          <a:prstGeom prst="roundRect">
            <a:avLst>
              <a:gd fmla="val 16667" name="adj"/>
            </a:avLst>
          </a:prstGeom>
          <a:solidFill>
            <a:srgbClr val="E8EEF6"/>
          </a:solidFill>
          <a:ln cap="flat" cmpd="sng" w="25400">
            <a:solidFill>
              <a:srgbClr val="0F346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0F3460"/>
                </a:solidFill>
                <a:latin typeface="Calibri"/>
                <a:ea typeface="Calibri"/>
                <a:cs typeface="Calibri"/>
                <a:sym typeface="Calibri"/>
              </a:rPr>
              <a:t>Employee</a:t>
            </a:r>
            <a:endParaRPr/>
          </a:p>
          <a:p>
            <a:pPr indent="0" lvl="0" marL="0" marR="0" rtl="0" algn="ctr">
              <a:spcBef>
                <a:spcPts val="400"/>
              </a:spcBef>
              <a:spcAft>
                <a:spcPts val="0"/>
              </a:spcAft>
              <a:buNone/>
            </a:pPr>
            <a:r>
              <a:rPr b="0" i="0" lang="en-US" sz="1100" u="none" cap="none" strike="noStrike">
                <a:solidFill>
                  <a:srgbClr val="555555"/>
                </a:solidFill>
                <a:latin typeface="Calibri"/>
                <a:ea typeface="Calibri"/>
                <a:cs typeface="Calibri"/>
                <a:sym typeface="Calibri"/>
              </a:rPr>
              <a:t>OneStore Widget</a:t>
            </a:r>
            <a:endParaRPr/>
          </a:p>
          <a:p>
            <a:pPr indent="0" lvl="0" marL="0" marR="0" rtl="0" algn="l">
              <a:spcBef>
                <a:spcPts val="400"/>
              </a:spcBef>
              <a:spcAft>
                <a:spcPts val="0"/>
              </a:spcAft>
              <a:buNone/>
            </a:pPr>
            <a:r>
              <a:t/>
            </a:r>
            <a:endParaRPr b="0" i="0" sz="11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streaming</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feedback</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citations</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Generic errors</a:t>
            </a:r>
            <a:endParaRPr/>
          </a:p>
        </p:txBody>
      </p:sp>
      <p:sp>
        <p:nvSpPr>
          <p:cNvPr id="449" name="Google Shape;449;g3d10bb97ea7_0_0"/>
          <p:cNvSpPr/>
          <p:nvPr/>
        </p:nvSpPr>
        <p:spPr>
          <a:xfrm>
            <a:off x="2194560" y="2468880"/>
            <a:ext cx="1280100" cy="1005900"/>
          </a:xfrm>
          <a:prstGeom prst="roundRect">
            <a:avLst>
              <a:gd fmla="val 16667" name="adj"/>
            </a:avLst>
          </a:prstGeom>
          <a:solidFill>
            <a:srgbClr val="FEF9E7"/>
          </a:solidFill>
          <a:ln cap="flat" cmpd="sng" w="25400">
            <a:solidFill>
              <a:srgbClr val="D4A01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7D6608"/>
                </a:solidFill>
                <a:latin typeface="Calibri"/>
                <a:ea typeface="Calibri"/>
                <a:cs typeface="Calibri"/>
                <a:sym typeface="Calibri"/>
              </a:rPr>
              <a:t>API Gateway</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REST / Sync</a:t>
            </a:r>
            <a:endParaRPr b="0" i="0" sz="1000" u="none" cap="none" strike="noStrike">
              <a:solidFill>
                <a:srgbClr val="555555"/>
              </a:solidFill>
              <a:latin typeface="Calibri"/>
              <a:ea typeface="Calibri"/>
              <a:cs typeface="Calibri"/>
              <a:sym typeface="Calibri"/>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SSE/WebSocket</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Buffers full response</a:t>
            </a:r>
            <a:endParaRPr/>
          </a:p>
        </p:txBody>
      </p:sp>
      <p:cxnSp>
        <p:nvCxnSpPr>
          <p:cNvPr id="450" name="Google Shape;450;g3d10bb97ea7_0_0"/>
          <p:cNvCxnSpPr/>
          <p:nvPr/>
        </p:nvCxnSpPr>
        <p:spPr>
          <a:xfrm>
            <a:off x="1828800" y="2971800"/>
            <a:ext cx="365700" cy="0"/>
          </a:xfrm>
          <a:prstGeom prst="straightConnector1">
            <a:avLst/>
          </a:prstGeom>
          <a:noFill/>
          <a:ln cap="flat" cmpd="sng" w="25400">
            <a:solidFill>
              <a:srgbClr val="555555"/>
            </a:solidFill>
            <a:prstDash val="solid"/>
            <a:round/>
            <a:headEnd len="sm" w="sm" type="none"/>
            <a:tailEnd len="sm" w="sm" type="triangle"/>
          </a:ln>
          <a:effectLst>
            <a:outerShdw blurRad="40000" rotWithShape="0" dir="5400000" dist="20000">
              <a:srgbClr val="000000">
                <a:alpha val="38040"/>
              </a:srgbClr>
            </a:outerShdw>
          </a:effectLst>
        </p:spPr>
      </p:cxnSp>
      <p:sp>
        <p:nvSpPr>
          <p:cNvPr id="451" name="Google Shape;451;g3d10bb97ea7_0_0"/>
          <p:cNvSpPr/>
          <p:nvPr/>
        </p:nvSpPr>
        <p:spPr>
          <a:xfrm>
            <a:off x="3840475" y="1063000"/>
            <a:ext cx="5664300" cy="5427000"/>
          </a:xfrm>
          <a:prstGeom prst="roundRect">
            <a:avLst>
              <a:gd fmla="val 16667" name="adj"/>
            </a:avLst>
          </a:prstGeom>
          <a:solidFill>
            <a:srgbClr val="FFFFFF"/>
          </a:solidFill>
          <a:ln cap="flat" cmpd="sng" w="9525">
            <a:solidFill>
              <a:srgbClr val="E67E2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g3d10bb97ea7_0_0"/>
          <p:cNvSpPr txBox="1"/>
          <p:nvPr/>
        </p:nvSpPr>
        <p:spPr>
          <a:xfrm>
            <a:off x="4114800" y="1417320"/>
            <a:ext cx="73152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67E22"/>
                </a:solidFill>
                <a:latin typeface="Calibri"/>
                <a:ea typeface="Calibri"/>
                <a:cs typeface="Calibri"/>
                <a:sym typeface="Calibri"/>
              </a:rPr>
              <a:t>Lambda (Node.js) — Orchestrator</a:t>
            </a:r>
            <a:endParaRPr/>
          </a:p>
        </p:txBody>
      </p:sp>
      <p:cxnSp>
        <p:nvCxnSpPr>
          <p:cNvPr id="453" name="Google Shape;453;g3d10bb97ea7_0_0"/>
          <p:cNvCxnSpPr/>
          <p:nvPr/>
        </p:nvCxnSpPr>
        <p:spPr>
          <a:xfrm>
            <a:off x="3474720" y="2971800"/>
            <a:ext cx="365700" cy="0"/>
          </a:xfrm>
          <a:prstGeom prst="straightConnector1">
            <a:avLst/>
          </a:prstGeom>
          <a:noFill/>
          <a:ln cap="flat" cmpd="sng" w="25400">
            <a:solidFill>
              <a:srgbClr val="555555"/>
            </a:solidFill>
            <a:prstDash val="solid"/>
            <a:round/>
            <a:headEnd len="sm" w="sm" type="none"/>
            <a:tailEnd len="sm" w="sm" type="triangle"/>
          </a:ln>
          <a:effectLst>
            <a:outerShdw blurRad="40000" rotWithShape="0" dir="5400000" dist="20000">
              <a:srgbClr val="000000">
                <a:alpha val="38040"/>
              </a:srgbClr>
            </a:outerShdw>
          </a:effectLst>
        </p:spPr>
      </p:cxnSp>
      <p:sp>
        <p:nvSpPr>
          <p:cNvPr id="454" name="Google Shape;454;g3d10bb97ea7_0_0"/>
          <p:cNvSpPr/>
          <p:nvPr/>
        </p:nvSpPr>
        <p:spPr>
          <a:xfrm>
            <a:off x="4206250" y="1920250"/>
            <a:ext cx="1766100" cy="868800"/>
          </a:xfrm>
          <a:prstGeom prst="roundRect">
            <a:avLst>
              <a:gd fmla="val 16667" name="adj"/>
            </a:avLst>
          </a:prstGeom>
          <a:solidFill>
            <a:srgbClr val="EAFAF1"/>
          </a:solidFill>
          <a:ln cap="flat" cmpd="sng" w="19050">
            <a:solidFill>
              <a:srgbClr val="27AE6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27AE60"/>
                </a:solidFill>
                <a:latin typeface="Calibri"/>
                <a:ea typeface="Calibri"/>
                <a:cs typeface="Calibri"/>
                <a:sym typeface="Calibri"/>
              </a:rPr>
              <a:t>Step 1: Retrieval</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Vector Store  |  70ms avg</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Cache: 5.8% hit  |  0% errors</a:t>
            </a:r>
            <a:endParaRPr/>
          </a:p>
        </p:txBody>
      </p:sp>
      <p:sp>
        <p:nvSpPr>
          <p:cNvPr id="455" name="Google Shape;455;g3d10bb97ea7_0_0"/>
          <p:cNvSpPr/>
          <p:nvPr/>
        </p:nvSpPr>
        <p:spPr>
          <a:xfrm>
            <a:off x="6168055" y="2240280"/>
            <a:ext cx="822900" cy="365700"/>
          </a:xfrm>
          <a:prstGeom prst="roundRect">
            <a:avLst>
              <a:gd fmla="val 16667" name="adj"/>
            </a:avLst>
          </a:prstGeom>
          <a:solidFill>
            <a:srgbClr val="FDF0EF"/>
          </a:solidFill>
          <a:ln cap="flat" cmpd="sng" w="12700">
            <a:solidFill>
              <a:srgbClr val="C0392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C0392B"/>
                </a:solidFill>
                <a:latin typeface="Calibri"/>
                <a:ea typeface="Calibri"/>
                <a:cs typeface="Calibri"/>
                <a:sym typeface="Calibri"/>
              </a:rPr>
              <a:t>SERIAL</a:t>
            </a:r>
            <a:endParaRPr/>
          </a:p>
        </p:txBody>
      </p:sp>
      <p:cxnSp>
        <p:nvCxnSpPr>
          <p:cNvPr id="456" name="Google Shape;456;g3d10bb97ea7_0_0"/>
          <p:cNvCxnSpPr/>
          <p:nvPr/>
        </p:nvCxnSpPr>
        <p:spPr>
          <a:xfrm>
            <a:off x="5985175" y="2423160"/>
            <a:ext cx="1830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8040"/>
              </a:srgbClr>
            </a:outerShdw>
          </a:effectLst>
        </p:spPr>
      </p:cxnSp>
      <p:sp>
        <p:nvSpPr>
          <p:cNvPr id="457" name="Google Shape;457;g3d10bb97ea7_0_0"/>
          <p:cNvSpPr/>
          <p:nvPr/>
        </p:nvSpPr>
        <p:spPr>
          <a:xfrm>
            <a:off x="7173900" y="1920250"/>
            <a:ext cx="1896900" cy="868800"/>
          </a:xfrm>
          <a:prstGeom prst="roundRect">
            <a:avLst>
              <a:gd fmla="val 16667" name="adj"/>
            </a:avLst>
          </a:prstGeom>
          <a:solidFill>
            <a:srgbClr val="FFF3E0"/>
          </a:solidFill>
          <a:ln cap="flat" cmpd="sng" w="19050">
            <a:solidFill>
              <a:srgbClr val="E67E2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E67E22"/>
                </a:solidFill>
                <a:latin typeface="Calibri"/>
                <a:ea typeface="Calibri"/>
                <a:cs typeface="Calibri"/>
                <a:sym typeface="Calibri"/>
              </a:rPr>
              <a:t>Step 2: Inventory</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REST API  |  200–550ms</a:t>
            </a:r>
            <a:endParaRPr/>
          </a:p>
          <a:p>
            <a:pPr indent="0" lvl="0" marL="0" marR="0" rtl="0" algn="ctr">
              <a:spcBef>
                <a:spcPts val="400"/>
              </a:spcBef>
              <a:spcAft>
                <a:spcPts val="0"/>
              </a:spcAft>
              <a:buNone/>
            </a:pPr>
            <a:r>
              <a:rPr b="0" i="0" lang="en-US" sz="1000" u="none" cap="none" strike="noStrike">
                <a:solidFill>
                  <a:srgbClr val="E67E22"/>
                </a:solidFill>
                <a:latin typeface="Calibri"/>
                <a:ea typeface="Calibri"/>
                <a:cs typeface="Calibri"/>
                <a:sym typeface="Calibri"/>
              </a:rPr>
              <a:t>Cache: 5.6%  |  Degrading </a:t>
            </a:r>
            <a:endParaRPr/>
          </a:p>
        </p:txBody>
      </p:sp>
      <p:cxnSp>
        <p:nvCxnSpPr>
          <p:cNvPr id="458" name="Google Shape;458;g3d10bb97ea7_0_0"/>
          <p:cNvCxnSpPr/>
          <p:nvPr/>
        </p:nvCxnSpPr>
        <p:spPr>
          <a:xfrm>
            <a:off x="6991015" y="2423160"/>
            <a:ext cx="183000"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8040"/>
              </a:srgbClr>
            </a:outerShdw>
          </a:effectLst>
        </p:spPr>
      </p:cxnSp>
      <p:sp>
        <p:nvSpPr>
          <p:cNvPr id="459" name="Google Shape;459;g3d10bb97ea7_0_0"/>
          <p:cNvSpPr txBox="1"/>
          <p:nvPr/>
        </p:nvSpPr>
        <p:spPr>
          <a:xfrm>
            <a:off x="5436510" y="2856460"/>
            <a:ext cx="22860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555555"/>
                </a:solidFill>
                <a:latin typeface="Calibri"/>
                <a:ea typeface="Calibri"/>
                <a:cs typeface="Calibri"/>
                <a:sym typeface="Calibri"/>
              </a:rPr>
              <a:t>waits for both (serial)</a:t>
            </a:r>
            <a:endParaRPr/>
          </a:p>
        </p:txBody>
      </p:sp>
      <p:sp>
        <p:nvSpPr>
          <p:cNvPr id="460" name="Google Shape;460;g3d10bb97ea7_0_0"/>
          <p:cNvSpPr/>
          <p:nvPr/>
        </p:nvSpPr>
        <p:spPr>
          <a:xfrm>
            <a:off x="9620275" y="3047897"/>
            <a:ext cx="2448000" cy="1403100"/>
          </a:xfrm>
          <a:prstGeom prst="roundRect">
            <a:avLst>
              <a:gd fmla="val 16667" name="adj"/>
            </a:avLst>
          </a:prstGeom>
          <a:solidFill>
            <a:srgbClr val="FDF0EF"/>
          </a:solidFill>
          <a:ln cap="flat" cmpd="sng" w="19050">
            <a:solidFill>
              <a:srgbClr val="9900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500" u="none" cap="none" strike="noStrike">
                <a:solidFill>
                  <a:srgbClr val="C0392B"/>
                </a:solidFill>
                <a:latin typeface="Calibri"/>
                <a:ea typeface="Calibri"/>
                <a:cs typeface="Calibri"/>
                <a:sym typeface="Calibri"/>
              </a:rPr>
              <a:t>Step 3: OpenAI GPT-4o</a:t>
            </a:r>
            <a:endParaRPr/>
          </a:p>
          <a:p>
            <a:pPr indent="0" lvl="0" marL="0" marR="0" rtl="0" algn="ctr">
              <a:spcBef>
                <a:spcPts val="400"/>
              </a:spcBef>
              <a:spcAft>
                <a:spcPts val="0"/>
              </a:spcAft>
              <a:buNone/>
            </a:pPr>
            <a:r>
              <a:rPr b="0" i="0" lang="en-US" sz="1100" u="none" cap="none" strike="noStrike">
                <a:solidFill>
                  <a:srgbClr val="555555"/>
                </a:solidFill>
                <a:latin typeface="Calibri"/>
                <a:ea typeface="Calibri"/>
                <a:cs typeface="Calibri"/>
                <a:sym typeface="Calibri"/>
              </a:rPr>
              <a:t>750ms avg  |  All traffic uses GPT-4o</a:t>
            </a:r>
            <a:endParaRPr/>
          </a:p>
          <a:p>
            <a:pPr indent="0" lvl="0" marL="0" marR="0" rtl="0" algn="l">
              <a:spcBef>
                <a:spcPts val="400"/>
              </a:spcBef>
              <a:spcAft>
                <a:spcPts val="0"/>
              </a:spcAft>
              <a:buNone/>
            </a:pPr>
            <a:r>
              <a:rPr lang="en-US" sz="1100">
                <a:solidFill>
                  <a:srgbClr val="555555"/>
                </a:solidFill>
                <a:latin typeface="Calibri"/>
                <a:ea typeface="Calibri"/>
                <a:cs typeface="Calibri"/>
                <a:sym typeface="Calibri"/>
              </a:rPr>
              <a:t>	           </a:t>
            </a:r>
            <a:r>
              <a:rPr b="1" lang="en-US">
                <a:solidFill>
                  <a:srgbClr val="990000"/>
                </a:solidFill>
                <a:latin typeface="Calibri"/>
                <a:ea typeface="Calibri"/>
                <a:cs typeface="Calibri"/>
                <a:sym typeface="Calibri"/>
              </a:rPr>
              <a:t>LLM</a:t>
            </a:r>
            <a:endParaRPr b="1" i="0" u="none" cap="none" strike="noStrike">
              <a:solidFill>
                <a:srgbClr val="990000"/>
              </a:solidFill>
              <a:latin typeface="Calibri"/>
              <a:ea typeface="Calibri"/>
              <a:cs typeface="Calibri"/>
              <a:sym typeface="Calibri"/>
            </a:endParaRPr>
          </a:p>
          <a:p>
            <a:pPr indent="0" lvl="0" marL="0" marR="0" rtl="0" algn="ctr">
              <a:spcBef>
                <a:spcPts val="400"/>
              </a:spcBef>
              <a:spcAft>
                <a:spcPts val="0"/>
              </a:spcAft>
              <a:buNone/>
            </a:pPr>
            <a:r>
              <a:rPr b="1" i="0" lang="en-US" sz="1000" u="none" cap="none" strike="noStrike">
                <a:solidFill>
                  <a:srgbClr val="C0392B"/>
                </a:solidFill>
                <a:latin typeface="Calibri"/>
                <a:ea typeface="Calibri"/>
                <a:cs typeface="Calibri"/>
                <a:sym typeface="Calibri"/>
              </a:rPr>
              <a:t>✗ No streaming     ✗ No model routing</a:t>
            </a:r>
            <a:endParaRPr/>
          </a:p>
          <a:p>
            <a:pPr indent="0" lvl="0" marL="0" marR="0" rtl="0" algn="ctr">
              <a:spcBef>
                <a:spcPts val="400"/>
              </a:spcBef>
              <a:spcAft>
                <a:spcPts val="0"/>
              </a:spcAft>
              <a:buNone/>
            </a:pPr>
            <a:r>
              <a:rPr b="1" i="0" lang="en-US" sz="1000" u="none" cap="none" strike="noStrike">
                <a:solidFill>
                  <a:srgbClr val="C0392B"/>
                </a:solidFill>
                <a:latin typeface="Calibri"/>
                <a:ea typeface="Calibri"/>
                <a:cs typeface="Calibri"/>
                <a:sym typeface="Calibri"/>
              </a:rPr>
              <a:t>✗ No prompt caching     ✗ Naive retry</a:t>
            </a:r>
            <a:endParaRPr/>
          </a:p>
        </p:txBody>
      </p:sp>
      <p:sp>
        <p:nvSpPr>
          <p:cNvPr id="461" name="Google Shape;461;g3d10bb97ea7_0_0"/>
          <p:cNvSpPr/>
          <p:nvPr/>
        </p:nvSpPr>
        <p:spPr>
          <a:xfrm>
            <a:off x="4004725" y="5064225"/>
            <a:ext cx="3383400" cy="868800"/>
          </a:xfrm>
          <a:prstGeom prst="roundRect">
            <a:avLst>
              <a:gd fmla="val 16667" name="adj"/>
            </a:avLst>
          </a:prstGeom>
          <a:solidFill>
            <a:srgbClr val="FDF0EF"/>
          </a:solidFill>
          <a:ln cap="flat" cmpd="sng" w="12700">
            <a:solidFill>
              <a:srgbClr val="C0392B"/>
            </a:solidFill>
            <a:prstDash val="dash"/>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00" u="none" cap="none" strike="noStrike">
                <a:solidFill>
                  <a:srgbClr val="C0392B"/>
                </a:solidFill>
                <a:latin typeface="Calibri"/>
                <a:ea typeface="Calibri"/>
                <a:cs typeface="Calibri"/>
                <a:sym typeface="Calibri"/>
              </a:rPr>
              <a:t>✗ Serial calls (retrieval→inv→OAI)     ✗ No circuit breakers</a:t>
            </a:r>
            <a:endParaRPr/>
          </a:p>
          <a:p>
            <a:pPr indent="0" lvl="0" marL="0" marR="0" rtl="0" algn="l">
              <a:spcBef>
                <a:spcPts val="400"/>
              </a:spcBef>
              <a:spcAft>
                <a:spcPts val="0"/>
              </a:spcAft>
              <a:buNone/>
            </a:pPr>
            <a:r>
              <a:rPr b="1" i="0" lang="en-US" sz="1000" u="none" cap="none" strike="noStrike">
                <a:solidFill>
                  <a:srgbClr val="C0392B"/>
                </a:solidFill>
                <a:latin typeface="Calibri"/>
                <a:ea typeface="Calibri"/>
                <a:cs typeface="Calibri"/>
                <a:sym typeface="Calibri"/>
              </a:rPr>
              <a:t>✗ No graceful degradation     ✗ No provisioned concurrency</a:t>
            </a:r>
            <a:endParaRPr/>
          </a:p>
        </p:txBody>
      </p:sp>
      <p:sp>
        <p:nvSpPr>
          <p:cNvPr id="462" name="Google Shape;462;g3d10bb97ea7_0_0"/>
          <p:cNvSpPr/>
          <p:nvPr/>
        </p:nvSpPr>
        <p:spPr>
          <a:xfrm>
            <a:off x="7722500" y="5064225"/>
            <a:ext cx="1580700" cy="868800"/>
          </a:xfrm>
          <a:prstGeom prst="roundRect">
            <a:avLst>
              <a:gd fmla="val 16667" name="adj"/>
            </a:avLst>
          </a:prstGeom>
          <a:solidFill>
            <a:srgbClr val="F4F6F9"/>
          </a:solidFill>
          <a:ln cap="flat" cmpd="sng" w="19050">
            <a:solidFill>
              <a:srgbClr val="95A5A6"/>
            </a:solidFill>
            <a:prstDash val="dash"/>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rgbClr val="555555"/>
                </a:solidFill>
                <a:latin typeface="Calibri"/>
                <a:ea typeface="Calibri"/>
                <a:cs typeface="Calibri"/>
                <a:sym typeface="Calibri"/>
              </a:rPr>
              <a:t>CloudWatch</a:t>
            </a:r>
            <a:endParaRPr/>
          </a:p>
          <a:p>
            <a:pPr indent="0" lvl="0" marL="0" marR="0" rtl="0" algn="ctr">
              <a:spcBef>
                <a:spcPts val="400"/>
              </a:spcBef>
              <a:spcAft>
                <a:spcPts val="0"/>
              </a:spcAft>
              <a:buNone/>
            </a:pPr>
            <a:r>
              <a:rPr b="0" i="0" lang="en-US" sz="1000" u="none" cap="none" strike="noStrike">
                <a:solidFill>
                  <a:srgbClr val="555555"/>
                </a:solidFill>
                <a:latin typeface="Calibri"/>
                <a:ea typeface="Calibri"/>
                <a:cs typeface="Calibri"/>
                <a:sym typeface="Calibri"/>
              </a:rPr>
              <a:t>Logging only</a:t>
            </a:r>
            <a:endParaRPr/>
          </a:p>
          <a:p>
            <a:pPr indent="0" lvl="0" marL="0" marR="0" rtl="0" algn="ctr">
              <a:spcBef>
                <a:spcPts val="400"/>
              </a:spcBef>
              <a:spcAft>
                <a:spcPts val="0"/>
              </a:spcAft>
              <a:buNone/>
            </a:pPr>
            <a:r>
              <a:rPr b="1" i="0" lang="en-US" sz="900" u="none" cap="none" strike="noStrike">
                <a:solidFill>
                  <a:srgbClr val="C0392B"/>
                </a:solidFill>
                <a:latin typeface="Calibri"/>
                <a:ea typeface="Calibri"/>
                <a:cs typeface="Calibri"/>
                <a:sym typeface="Calibri"/>
              </a:rPr>
              <a:t>✗ No dashboard  ✗ No alerting</a:t>
            </a:r>
            <a:endParaRPr/>
          </a:p>
        </p:txBody>
      </p:sp>
      <p:sp>
        <p:nvSpPr>
          <p:cNvPr id="463" name="Google Shape;463;g3d10bb97ea7_0_0"/>
          <p:cNvSpPr/>
          <p:nvPr/>
        </p:nvSpPr>
        <p:spPr>
          <a:xfrm>
            <a:off x="274320" y="4663440"/>
            <a:ext cx="3383400" cy="1645800"/>
          </a:xfrm>
          <a:prstGeom prst="roundRect">
            <a:avLst>
              <a:gd fmla="val 16667" name="adj"/>
            </a:avLst>
          </a:prstGeom>
          <a:solidFill>
            <a:srgbClr val="F4F6F9"/>
          </a:solidFill>
          <a:ln cap="flat" cmpd="sng" w="12700">
            <a:solidFill>
              <a:srgbClr val="0F346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00" u="none" cap="none" strike="noStrike">
                <a:solidFill>
                  <a:srgbClr val="0F3460"/>
                </a:solidFill>
                <a:latin typeface="Calibri"/>
                <a:ea typeface="Calibri"/>
                <a:cs typeface="Calibri"/>
                <a:sym typeface="Calibri"/>
              </a:rPr>
              <a:t>Sample Trace: req_5048bf7b539b</a:t>
            </a:r>
            <a:endParaRPr/>
          </a:p>
          <a:p>
            <a:pPr indent="0" lvl="0" marL="0" marR="0" rtl="0" algn="l">
              <a:spcBef>
                <a:spcPts val="400"/>
              </a:spcBef>
              <a:spcAft>
                <a:spcPts val="0"/>
              </a:spcAft>
              <a:buNone/>
            </a:pPr>
            <a:r>
              <a:t/>
            </a:r>
            <a:endParaRPr b="1" i="0" sz="1000" u="none" cap="none" strike="noStrike">
              <a:solidFill>
                <a:srgbClr val="0F3460"/>
              </a:solidFill>
              <a:latin typeface="Calibri"/>
              <a:ea typeface="Calibri"/>
              <a:cs typeface="Calibri"/>
              <a:sym typeface="Calibri"/>
            </a:endParaRPr>
          </a:p>
          <a:p>
            <a:pPr indent="0" lvl="0" marL="0" marR="0" rtl="0" algn="l">
              <a:spcBef>
                <a:spcPts val="400"/>
              </a:spcBef>
              <a:spcAft>
                <a:spcPts val="0"/>
              </a:spcAft>
              <a:buNone/>
            </a:pPr>
            <a:r>
              <a:rPr b="0" i="0" lang="en-US" sz="900" u="none" cap="none" strike="noStrike">
                <a:solidFill>
                  <a:srgbClr val="27AE60"/>
                </a:solidFill>
                <a:latin typeface="Consolas"/>
                <a:ea typeface="Consolas"/>
                <a:cs typeface="Consolas"/>
                <a:sym typeface="Consolas"/>
              </a:rPr>
              <a:t>Retrieval:    ██              40ms</a:t>
            </a:r>
            <a:endParaRPr/>
          </a:p>
          <a:p>
            <a:pPr indent="0" lvl="0" marL="0" marR="0" rtl="0" algn="l">
              <a:spcBef>
                <a:spcPts val="400"/>
              </a:spcBef>
              <a:spcAft>
                <a:spcPts val="0"/>
              </a:spcAft>
              <a:buNone/>
            </a:pPr>
            <a:r>
              <a:rPr b="0" i="0" lang="en-US" sz="900" u="none" cap="none" strike="noStrike">
                <a:solidFill>
                  <a:srgbClr val="E67E22"/>
                </a:solidFill>
                <a:latin typeface="Consolas"/>
                <a:ea typeface="Consolas"/>
                <a:cs typeface="Consolas"/>
                <a:sym typeface="Consolas"/>
              </a:rPr>
              <a:t>Inventory:        ██████      143ms (waits)</a:t>
            </a:r>
            <a:endParaRPr/>
          </a:p>
          <a:p>
            <a:pPr indent="0" lvl="0" marL="0" marR="0" rtl="0" algn="l">
              <a:spcBef>
                <a:spcPts val="400"/>
              </a:spcBef>
              <a:spcAft>
                <a:spcPts val="0"/>
              </a:spcAft>
              <a:buNone/>
            </a:pPr>
            <a:r>
              <a:rPr b="0" i="0" lang="en-US" sz="900" u="none" cap="none" strike="noStrike">
                <a:solidFill>
                  <a:srgbClr val="C0392B"/>
                </a:solidFill>
                <a:latin typeface="Consolas"/>
                <a:ea typeface="Consolas"/>
                <a:cs typeface="Consolas"/>
                <a:sym typeface="Consolas"/>
              </a:rPr>
              <a:t>OpenAI:                █████████████  554ms</a:t>
            </a:r>
            <a:endParaRPr/>
          </a:p>
          <a:p>
            <a:pPr indent="0" lvl="0" marL="0" marR="0" rtl="0" algn="l">
              <a:spcBef>
                <a:spcPts val="400"/>
              </a:spcBef>
              <a:spcAft>
                <a:spcPts val="0"/>
              </a:spcAft>
              <a:buNone/>
            </a:pPr>
            <a:r>
              <a:t/>
            </a:r>
            <a:endParaRPr b="0" i="0" sz="900" u="none" cap="none" strike="noStrike">
              <a:solidFill>
                <a:srgbClr val="C0392B"/>
              </a:solidFill>
              <a:latin typeface="Consolas"/>
              <a:ea typeface="Consolas"/>
              <a:cs typeface="Consolas"/>
              <a:sym typeface="Consolas"/>
            </a:endParaRPr>
          </a:p>
          <a:p>
            <a:pPr indent="0" lvl="0" marL="0" marR="0" rtl="0" algn="l">
              <a:spcBef>
                <a:spcPts val="400"/>
              </a:spcBef>
              <a:spcAft>
                <a:spcPts val="0"/>
              </a:spcAft>
              <a:buNone/>
            </a:pPr>
            <a:r>
              <a:rPr b="1" i="0" lang="en-US" sz="1000" u="none" cap="none" strike="noStrike">
                <a:solidFill>
                  <a:srgbClr val="0F3460"/>
                </a:solidFill>
                <a:latin typeface="Calibri"/>
                <a:ea typeface="Calibri"/>
                <a:cs typeface="Calibri"/>
                <a:sym typeface="Calibri"/>
              </a:rPr>
              <a:t>Total: 793ms  |  Wasted: 40–70ms</a:t>
            </a:r>
            <a:endParaRPr/>
          </a:p>
        </p:txBody>
      </p:sp>
      <p:cxnSp>
        <p:nvCxnSpPr>
          <p:cNvPr id="464" name="Google Shape;464;g3d10bb97ea7_0_0"/>
          <p:cNvCxnSpPr>
            <a:stCxn id="457" idx="3"/>
            <a:endCxn id="460" idx="0"/>
          </p:cNvCxnSpPr>
          <p:nvPr/>
        </p:nvCxnSpPr>
        <p:spPr>
          <a:xfrm>
            <a:off x="9070800" y="2354650"/>
            <a:ext cx="1773600" cy="693300"/>
          </a:xfrm>
          <a:prstGeom prst="bentConnector2">
            <a:avLst/>
          </a:prstGeom>
          <a:noFill/>
          <a:ln cap="flat" cmpd="sng" w="19050">
            <a:solidFill>
              <a:schemeClr val="dk1"/>
            </a:solidFill>
            <a:prstDash val="solid"/>
            <a:round/>
            <a:headEnd len="med" w="med" type="none"/>
            <a:tailEnd len="med" w="med" type="triangle"/>
          </a:ln>
        </p:spPr>
      </p:cxnSp>
      <p:cxnSp>
        <p:nvCxnSpPr>
          <p:cNvPr id="465" name="Google Shape;465;g3d10bb97ea7_0_0"/>
          <p:cNvCxnSpPr>
            <a:stCxn id="454" idx="2"/>
            <a:endCxn id="460" idx="1"/>
          </p:cNvCxnSpPr>
          <p:nvPr/>
        </p:nvCxnSpPr>
        <p:spPr>
          <a:xfrm flipH="1" rot="-5400000">
            <a:off x="6874600" y="1003750"/>
            <a:ext cx="960300" cy="4530900"/>
          </a:xfrm>
          <a:prstGeom prst="bentConnector2">
            <a:avLst/>
          </a:prstGeom>
          <a:noFill/>
          <a:ln cap="flat" cmpd="sng" w="19050">
            <a:solidFill>
              <a:schemeClr val="dk1"/>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